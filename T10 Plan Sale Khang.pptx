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0" r:id="rId3"/>
    <p:sldId id="257" r:id="rId4"/>
    <p:sldId id="259" r:id="rId5"/>
    <p:sldId id="260" r:id="rId6"/>
    <p:sldId id="263"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25" d="100"/>
          <a:sy n="25" d="100"/>
        </p:scale>
        <p:origin x="38" y="1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lumMod val="65000"/>
                    <a:lumOff val="35000"/>
                  </a:schemeClr>
                </a:solidFill>
                <a:latin typeface="+mn-lt"/>
                <a:ea typeface="+mn-ea"/>
                <a:cs typeface="+mn-cs"/>
              </a:defRPr>
            </a:pPr>
            <a:r>
              <a:rPr lang="vi-VN" dirty="0"/>
              <a:t>S.O từng shop 09 tháng 2024</a:t>
            </a:r>
            <a:endParaRPr lang="en-US" dirty="0"/>
          </a:p>
        </c:rich>
      </c:tx>
      <c:overlay val="0"/>
      <c:spPr>
        <a:noFill/>
        <a:ln>
          <a:noFill/>
        </a:ln>
        <a:effectLst/>
      </c:spPr>
      <c:txPr>
        <a:bodyPr rot="0" spcFirstLastPara="1" vertOverflow="ellipsis" vert="horz" wrap="square" anchor="ctr" anchorCtr="1"/>
        <a:lstStyle/>
        <a:p>
          <a:pPr>
            <a:defRPr sz="9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Sheet1!$B$2:$B$8</c:f>
              <c:numCache>
                <c:formatCode>General</c:formatCode>
                <c:ptCount val="7"/>
                <c:pt idx="0">
                  <c:v>107</c:v>
                </c:pt>
                <c:pt idx="1">
                  <c:v>41</c:v>
                </c:pt>
                <c:pt idx="2">
                  <c:v>41</c:v>
                </c:pt>
                <c:pt idx="3">
                  <c:v>0</c:v>
                </c:pt>
                <c:pt idx="4">
                  <c:v>0</c:v>
                </c:pt>
                <c:pt idx="5">
                  <c:v>1</c:v>
                </c:pt>
                <c:pt idx="6">
                  <c:v>1</c:v>
                </c:pt>
              </c:numCache>
            </c:numRef>
          </c:val>
          <c:extLst>
            <c:ext xmlns:c16="http://schemas.microsoft.com/office/drawing/2014/chart" uri="{C3380CC4-5D6E-409C-BE32-E72D297353CC}">
              <c16:uniqueId val="{00000000-D8BC-42DA-8595-C2A0F731924D}"/>
            </c:ext>
          </c:extLst>
        </c:ser>
        <c:ser>
          <c:idx val="1"/>
          <c:order val="1"/>
          <c:tx>
            <c:strRef>
              <c:f>Sheet1!$C$1</c:f>
              <c:strCache>
                <c:ptCount val="1"/>
                <c:pt idx="0">
                  <c:v>T2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Sheet1!$C$2:$C$8</c:f>
              <c:numCache>
                <c:formatCode>General</c:formatCode>
                <c:ptCount val="7"/>
                <c:pt idx="0">
                  <c:v>66</c:v>
                </c:pt>
                <c:pt idx="1">
                  <c:v>48</c:v>
                </c:pt>
                <c:pt idx="2">
                  <c:v>51</c:v>
                </c:pt>
                <c:pt idx="3">
                  <c:v>0</c:v>
                </c:pt>
                <c:pt idx="4">
                  <c:v>0</c:v>
                </c:pt>
                <c:pt idx="5">
                  <c:v>1</c:v>
                </c:pt>
                <c:pt idx="6">
                  <c:v>2</c:v>
                </c:pt>
              </c:numCache>
            </c:numRef>
          </c:val>
          <c:extLst>
            <c:ext xmlns:c16="http://schemas.microsoft.com/office/drawing/2014/chart" uri="{C3380CC4-5D6E-409C-BE32-E72D297353CC}">
              <c16:uniqueId val="{00000001-D8BC-42DA-8595-C2A0F731924D}"/>
            </c:ext>
          </c:extLst>
        </c:ser>
        <c:ser>
          <c:idx val="2"/>
          <c:order val="2"/>
          <c:tx>
            <c:strRef>
              <c:f>Sheet1!$D$1</c:f>
              <c:strCache>
                <c:ptCount val="1"/>
                <c:pt idx="0">
                  <c:v>T3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Sheet1!$D$2:$D$8</c:f>
              <c:numCache>
                <c:formatCode>General</c:formatCode>
                <c:ptCount val="7"/>
                <c:pt idx="0">
                  <c:v>80</c:v>
                </c:pt>
                <c:pt idx="1">
                  <c:v>34</c:v>
                </c:pt>
                <c:pt idx="2">
                  <c:v>50</c:v>
                </c:pt>
                <c:pt idx="3">
                  <c:v>0</c:v>
                </c:pt>
                <c:pt idx="4">
                  <c:v>0</c:v>
                </c:pt>
                <c:pt idx="5">
                  <c:v>0</c:v>
                </c:pt>
                <c:pt idx="6">
                  <c:v>0</c:v>
                </c:pt>
              </c:numCache>
            </c:numRef>
          </c:val>
          <c:extLst>
            <c:ext xmlns:c16="http://schemas.microsoft.com/office/drawing/2014/chart" uri="{C3380CC4-5D6E-409C-BE32-E72D297353CC}">
              <c16:uniqueId val="{00000002-D8BC-42DA-8595-C2A0F731924D}"/>
            </c:ext>
          </c:extLst>
        </c:ser>
        <c:ser>
          <c:idx val="3"/>
          <c:order val="3"/>
          <c:tx>
            <c:strRef>
              <c:f>Sheet1!$E$1</c:f>
              <c:strCache>
                <c:ptCount val="1"/>
                <c:pt idx="0">
                  <c:v>T4</c:v>
                </c:pt>
              </c:strCache>
            </c:strRef>
          </c:tx>
          <c:spPr>
            <a:solidFill>
              <a:srgbClr val="00B0F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Sheet1!$E$2:$E$8</c:f>
              <c:numCache>
                <c:formatCode>General</c:formatCode>
                <c:ptCount val="7"/>
                <c:pt idx="0">
                  <c:v>81</c:v>
                </c:pt>
                <c:pt idx="1">
                  <c:v>59</c:v>
                </c:pt>
                <c:pt idx="2">
                  <c:v>50</c:v>
                </c:pt>
                <c:pt idx="3">
                  <c:v>0</c:v>
                </c:pt>
                <c:pt idx="4">
                  <c:v>0</c:v>
                </c:pt>
                <c:pt idx="5">
                  <c:v>0</c:v>
                </c:pt>
                <c:pt idx="6">
                  <c:v>0</c:v>
                </c:pt>
              </c:numCache>
            </c:numRef>
          </c:val>
          <c:extLst>
            <c:ext xmlns:c16="http://schemas.microsoft.com/office/drawing/2014/chart" uri="{C3380CC4-5D6E-409C-BE32-E72D297353CC}">
              <c16:uniqueId val="{00000003-D8BC-42DA-8595-C2A0F731924D}"/>
            </c:ext>
          </c:extLst>
        </c:ser>
        <c:ser>
          <c:idx val="4"/>
          <c:order val="4"/>
          <c:tx>
            <c:strRef>
              <c:f>Sheet1!$F$1</c:f>
              <c:strCache>
                <c:ptCount val="1"/>
                <c:pt idx="0">
                  <c:v>T5</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Sheet1!$F$2:$F$8</c:f>
              <c:numCache>
                <c:formatCode>General</c:formatCode>
                <c:ptCount val="7"/>
                <c:pt idx="0">
                  <c:v>80</c:v>
                </c:pt>
                <c:pt idx="1">
                  <c:v>71</c:v>
                </c:pt>
                <c:pt idx="2">
                  <c:v>62</c:v>
                </c:pt>
                <c:pt idx="3">
                  <c:v>0</c:v>
                </c:pt>
                <c:pt idx="4">
                  <c:v>0</c:v>
                </c:pt>
                <c:pt idx="5">
                  <c:v>2</c:v>
                </c:pt>
                <c:pt idx="6">
                  <c:v>0</c:v>
                </c:pt>
              </c:numCache>
            </c:numRef>
          </c:val>
          <c:extLst>
            <c:ext xmlns:c16="http://schemas.microsoft.com/office/drawing/2014/chart" uri="{C3380CC4-5D6E-409C-BE32-E72D297353CC}">
              <c16:uniqueId val="{00000004-D8BC-42DA-8595-C2A0F731924D}"/>
            </c:ext>
          </c:extLst>
        </c:ser>
        <c:ser>
          <c:idx val="5"/>
          <c:order val="5"/>
          <c:tx>
            <c:strRef>
              <c:f>Sheet1!$G$1</c:f>
              <c:strCache>
                <c:ptCount val="1"/>
                <c:pt idx="0">
                  <c:v>T6</c:v>
                </c:pt>
              </c:strCache>
            </c:strRef>
          </c:tx>
          <c:spPr>
            <a:solidFill>
              <a:srgbClr val="00B05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Sheet1!$G$2:$G$8</c:f>
              <c:numCache>
                <c:formatCode>General</c:formatCode>
                <c:ptCount val="7"/>
                <c:pt idx="0">
                  <c:v>57</c:v>
                </c:pt>
                <c:pt idx="1">
                  <c:v>61</c:v>
                </c:pt>
                <c:pt idx="2">
                  <c:v>66</c:v>
                </c:pt>
                <c:pt idx="3">
                  <c:v>0</c:v>
                </c:pt>
                <c:pt idx="4">
                  <c:v>0</c:v>
                </c:pt>
                <c:pt idx="5">
                  <c:v>0</c:v>
                </c:pt>
                <c:pt idx="6">
                  <c:v>1</c:v>
                </c:pt>
              </c:numCache>
            </c:numRef>
          </c:val>
          <c:extLst>
            <c:ext xmlns:c16="http://schemas.microsoft.com/office/drawing/2014/chart" uri="{C3380CC4-5D6E-409C-BE32-E72D297353CC}">
              <c16:uniqueId val="{00000005-D8BC-42DA-8595-C2A0F731924D}"/>
            </c:ext>
          </c:extLst>
        </c:ser>
        <c:ser>
          <c:idx val="6"/>
          <c:order val="6"/>
          <c:tx>
            <c:strRef>
              <c:f>Sheet1!$H$1</c:f>
              <c:strCache>
                <c:ptCount val="1"/>
                <c:pt idx="0">
                  <c:v>T7</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Sheet1!$H$2:$H$8</c:f>
              <c:numCache>
                <c:formatCode>General</c:formatCode>
                <c:ptCount val="7"/>
                <c:pt idx="0">
                  <c:v>102</c:v>
                </c:pt>
                <c:pt idx="1">
                  <c:v>56</c:v>
                </c:pt>
                <c:pt idx="2">
                  <c:v>47</c:v>
                </c:pt>
                <c:pt idx="3">
                  <c:v>0</c:v>
                </c:pt>
                <c:pt idx="4">
                  <c:v>0</c:v>
                </c:pt>
                <c:pt idx="5">
                  <c:v>0</c:v>
                </c:pt>
                <c:pt idx="6">
                  <c:v>1</c:v>
                </c:pt>
              </c:numCache>
            </c:numRef>
          </c:val>
          <c:extLst>
            <c:ext xmlns:c16="http://schemas.microsoft.com/office/drawing/2014/chart" uri="{C3380CC4-5D6E-409C-BE32-E72D297353CC}">
              <c16:uniqueId val="{00000000-C19C-4666-943A-BDB2FA1EDF64}"/>
            </c:ext>
          </c:extLst>
        </c:ser>
        <c:ser>
          <c:idx val="7"/>
          <c:order val="7"/>
          <c:tx>
            <c:strRef>
              <c:f>Sheet1!$I$1</c:f>
              <c:strCache>
                <c:ptCount val="1"/>
                <c:pt idx="0">
                  <c:v>T8</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Sheet1!$I$2:$I$8</c:f>
              <c:numCache>
                <c:formatCode>General</c:formatCode>
                <c:ptCount val="7"/>
                <c:pt idx="0">
                  <c:v>120</c:v>
                </c:pt>
                <c:pt idx="1">
                  <c:v>84</c:v>
                </c:pt>
                <c:pt idx="2">
                  <c:v>50</c:v>
                </c:pt>
                <c:pt idx="3">
                  <c:v>0</c:v>
                </c:pt>
                <c:pt idx="4">
                  <c:v>0</c:v>
                </c:pt>
                <c:pt idx="5">
                  <c:v>1</c:v>
                </c:pt>
                <c:pt idx="6">
                  <c:v>2</c:v>
                </c:pt>
              </c:numCache>
            </c:numRef>
          </c:val>
          <c:extLst>
            <c:ext xmlns:c16="http://schemas.microsoft.com/office/drawing/2014/chart" uri="{C3380CC4-5D6E-409C-BE32-E72D297353CC}">
              <c16:uniqueId val="{00000001-C19C-4666-943A-BDB2FA1EDF64}"/>
            </c:ext>
          </c:extLst>
        </c:ser>
        <c:ser>
          <c:idx val="8"/>
          <c:order val="8"/>
          <c:tx>
            <c:strRef>
              <c:f>Sheet1!$J$1</c:f>
              <c:strCache>
                <c:ptCount val="1"/>
                <c:pt idx="0">
                  <c:v>T9</c:v>
                </c:pt>
              </c:strCache>
            </c:strRef>
          </c:tx>
          <c:spPr>
            <a:solidFill>
              <a:schemeClr val="accent3">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Sheet1!$J$2:$J$8</c:f>
              <c:numCache>
                <c:formatCode>General</c:formatCode>
                <c:ptCount val="7"/>
                <c:pt idx="0">
                  <c:v>80</c:v>
                </c:pt>
                <c:pt idx="1">
                  <c:v>80</c:v>
                </c:pt>
                <c:pt idx="2">
                  <c:v>55</c:v>
                </c:pt>
                <c:pt idx="3">
                  <c:v>30</c:v>
                </c:pt>
                <c:pt idx="4">
                  <c:v>16</c:v>
                </c:pt>
                <c:pt idx="5">
                  <c:v>0</c:v>
                </c:pt>
                <c:pt idx="6">
                  <c:v>4</c:v>
                </c:pt>
              </c:numCache>
            </c:numRef>
          </c:val>
          <c:extLst>
            <c:ext xmlns:c16="http://schemas.microsoft.com/office/drawing/2014/chart" uri="{C3380CC4-5D6E-409C-BE32-E72D297353CC}">
              <c16:uniqueId val="{00000002-C19C-4666-943A-BDB2FA1EDF64}"/>
            </c:ext>
          </c:extLst>
        </c:ser>
        <c:ser>
          <c:idx val="9"/>
          <c:order val="9"/>
          <c:tx>
            <c:strRef>
              <c:f>Sheet1!$K$1</c:f>
              <c:strCache>
                <c:ptCount val="1"/>
                <c:pt idx="0">
                  <c:v>TB</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Tơ Tạo</c:v>
                </c:pt>
                <c:pt idx="1">
                  <c:v>Nhựt Trường</c:v>
                </c:pt>
                <c:pt idx="2">
                  <c:v>Mỹ Thương</c:v>
                </c:pt>
                <c:pt idx="3">
                  <c:v>Thế Vinh</c:v>
                </c:pt>
                <c:pt idx="4">
                  <c:v>Trọng Phúc</c:v>
                </c:pt>
                <c:pt idx="5">
                  <c:v>Quang Minh</c:v>
                </c:pt>
                <c:pt idx="6">
                  <c:v>Văn Vũ</c:v>
                </c:pt>
              </c:strCache>
            </c:strRef>
          </c:cat>
          <c:val>
            <c:numRef>
              <c:f>Sheet1!$K$2:$K$8</c:f>
              <c:numCache>
                <c:formatCode>0</c:formatCode>
                <c:ptCount val="7"/>
                <c:pt idx="0" formatCode="General">
                  <c:v>86</c:v>
                </c:pt>
                <c:pt idx="1">
                  <c:v>59</c:v>
                </c:pt>
                <c:pt idx="2">
                  <c:v>52.125</c:v>
                </c:pt>
                <c:pt idx="3">
                  <c:v>3</c:v>
                </c:pt>
                <c:pt idx="4">
                  <c:v>2</c:v>
                </c:pt>
                <c:pt idx="5" formatCode="General">
                  <c:v>1</c:v>
                </c:pt>
                <c:pt idx="6" formatCode="General">
                  <c:v>1</c:v>
                </c:pt>
              </c:numCache>
            </c:numRef>
          </c:val>
          <c:extLst>
            <c:ext xmlns:c16="http://schemas.microsoft.com/office/drawing/2014/chart" uri="{C3380CC4-5D6E-409C-BE32-E72D297353CC}">
              <c16:uniqueId val="{00000001-8010-4925-80D8-54491674C195}"/>
            </c:ext>
          </c:extLst>
        </c:ser>
        <c:dLbls>
          <c:dLblPos val="outEnd"/>
          <c:showLegendKey val="0"/>
          <c:showVal val="1"/>
          <c:showCatName val="0"/>
          <c:showSerName val="0"/>
          <c:showPercent val="0"/>
          <c:showBubbleSize val="0"/>
        </c:dLbls>
        <c:gapWidth val="219"/>
        <c:overlap val="-27"/>
        <c:axId val="1070391760"/>
        <c:axId val="1070393840"/>
      </c:barChart>
      <c:catAx>
        <c:axId val="1070391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070393840"/>
        <c:crosses val="autoZero"/>
        <c:auto val="1"/>
        <c:lblAlgn val="ctr"/>
        <c:lblOffset val="100"/>
        <c:noMultiLvlLbl val="0"/>
      </c:catAx>
      <c:valAx>
        <c:axId val="1070393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070391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lumMod val="65000"/>
                    <a:lumOff val="35000"/>
                  </a:schemeClr>
                </a:solidFill>
                <a:latin typeface="+mn-lt"/>
                <a:ea typeface="+mn-ea"/>
                <a:cs typeface="+mn-cs"/>
              </a:defRPr>
            </a:pPr>
            <a:r>
              <a:rPr lang="vi-VN" dirty="0"/>
              <a:t>S.O từng shop 09 tháng 2024</a:t>
            </a:r>
            <a:endParaRPr lang="en-US" dirty="0"/>
          </a:p>
        </c:rich>
      </c:tx>
      <c:overlay val="0"/>
      <c:spPr>
        <a:noFill/>
        <a:ln>
          <a:noFill/>
        </a:ln>
        <a:effectLst/>
      </c:spPr>
      <c:txPr>
        <a:bodyPr rot="0" spcFirstLastPara="1" vertOverflow="ellipsis" vert="horz" wrap="square" anchor="ctr" anchorCtr="1"/>
        <a:lstStyle/>
        <a:p>
          <a:pPr>
            <a:defRPr sz="9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Sheet1!$B$2:$B$6</c:f>
              <c:numCache>
                <c:formatCode>General</c:formatCode>
                <c:ptCount val="5"/>
                <c:pt idx="0">
                  <c:v>12</c:v>
                </c:pt>
                <c:pt idx="1">
                  <c:v>0</c:v>
                </c:pt>
                <c:pt idx="2">
                  <c:v>0</c:v>
                </c:pt>
                <c:pt idx="3">
                  <c:v>1</c:v>
                </c:pt>
                <c:pt idx="4">
                  <c:v>5</c:v>
                </c:pt>
              </c:numCache>
            </c:numRef>
          </c:val>
          <c:extLst>
            <c:ext xmlns:c16="http://schemas.microsoft.com/office/drawing/2014/chart" uri="{C3380CC4-5D6E-409C-BE32-E72D297353CC}">
              <c16:uniqueId val="{00000000-9464-49EF-9D63-8D52A27EC5E2}"/>
            </c:ext>
          </c:extLst>
        </c:ser>
        <c:ser>
          <c:idx val="1"/>
          <c:order val="1"/>
          <c:tx>
            <c:strRef>
              <c:f>Sheet1!$C$1</c:f>
              <c:strCache>
                <c:ptCount val="1"/>
                <c:pt idx="0">
                  <c:v>T2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Sheet1!$C$2:$C$6</c:f>
              <c:numCache>
                <c:formatCode>General</c:formatCode>
                <c:ptCount val="5"/>
                <c:pt idx="0">
                  <c:v>10</c:v>
                </c:pt>
                <c:pt idx="1">
                  <c:v>0</c:v>
                </c:pt>
                <c:pt idx="2">
                  <c:v>1</c:v>
                </c:pt>
                <c:pt idx="3">
                  <c:v>0</c:v>
                </c:pt>
                <c:pt idx="4">
                  <c:v>3</c:v>
                </c:pt>
              </c:numCache>
            </c:numRef>
          </c:val>
          <c:extLst>
            <c:ext xmlns:c16="http://schemas.microsoft.com/office/drawing/2014/chart" uri="{C3380CC4-5D6E-409C-BE32-E72D297353CC}">
              <c16:uniqueId val="{00000001-9464-49EF-9D63-8D52A27EC5E2}"/>
            </c:ext>
          </c:extLst>
        </c:ser>
        <c:ser>
          <c:idx val="2"/>
          <c:order val="2"/>
          <c:tx>
            <c:strRef>
              <c:f>Sheet1!$D$1</c:f>
              <c:strCache>
                <c:ptCount val="1"/>
                <c:pt idx="0">
                  <c:v>T3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Sheet1!$D$2:$D$6</c:f>
              <c:numCache>
                <c:formatCode>General</c:formatCode>
                <c:ptCount val="5"/>
                <c:pt idx="0">
                  <c:v>5</c:v>
                </c:pt>
                <c:pt idx="1">
                  <c:v>1</c:v>
                </c:pt>
                <c:pt idx="2">
                  <c:v>0</c:v>
                </c:pt>
                <c:pt idx="3">
                  <c:v>0</c:v>
                </c:pt>
                <c:pt idx="4">
                  <c:v>5</c:v>
                </c:pt>
              </c:numCache>
            </c:numRef>
          </c:val>
          <c:extLst>
            <c:ext xmlns:c16="http://schemas.microsoft.com/office/drawing/2014/chart" uri="{C3380CC4-5D6E-409C-BE32-E72D297353CC}">
              <c16:uniqueId val="{00000002-9464-49EF-9D63-8D52A27EC5E2}"/>
            </c:ext>
          </c:extLst>
        </c:ser>
        <c:ser>
          <c:idx val="3"/>
          <c:order val="3"/>
          <c:tx>
            <c:strRef>
              <c:f>Sheet1!$E$1</c:f>
              <c:strCache>
                <c:ptCount val="1"/>
                <c:pt idx="0">
                  <c:v>T4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Sheet1!$E$2:$E$6</c:f>
              <c:numCache>
                <c:formatCode>General</c:formatCode>
                <c:ptCount val="5"/>
                <c:pt idx="0">
                  <c:v>6</c:v>
                </c:pt>
                <c:pt idx="1">
                  <c:v>2</c:v>
                </c:pt>
                <c:pt idx="2">
                  <c:v>0</c:v>
                </c:pt>
                <c:pt idx="3">
                  <c:v>5</c:v>
                </c:pt>
                <c:pt idx="4">
                  <c:v>1</c:v>
                </c:pt>
              </c:numCache>
            </c:numRef>
          </c:val>
          <c:extLst>
            <c:ext xmlns:c16="http://schemas.microsoft.com/office/drawing/2014/chart" uri="{C3380CC4-5D6E-409C-BE32-E72D297353CC}">
              <c16:uniqueId val="{00000003-9464-49EF-9D63-8D52A27EC5E2}"/>
            </c:ext>
          </c:extLst>
        </c:ser>
        <c:ser>
          <c:idx val="4"/>
          <c:order val="4"/>
          <c:tx>
            <c:strRef>
              <c:f>Sheet1!$F$1</c:f>
              <c:strCache>
                <c:ptCount val="1"/>
                <c:pt idx="0">
                  <c:v>T5</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Sheet1!$F$2:$F$6</c:f>
              <c:numCache>
                <c:formatCode>General</c:formatCode>
                <c:ptCount val="5"/>
                <c:pt idx="0">
                  <c:v>13</c:v>
                </c:pt>
                <c:pt idx="1">
                  <c:v>2</c:v>
                </c:pt>
                <c:pt idx="2">
                  <c:v>0</c:v>
                </c:pt>
                <c:pt idx="3">
                  <c:v>9</c:v>
                </c:pt>
                <c:pt idx="4">
                  <c:v>2</c:v>
                </c:pt>
              </c:numCache>
            </c:numRef>
          </c:val>
          <c:extLst>
            <c:ext xmlns:c16="http://schemas.microsoft.com/office/drawing/2014/chart" uri="{C3380CC4-5D6E-409C-BE32-E72D297353CC}">
              <c16:uniqueId val="{00000004-9464-49EF-9D63-8D52A27EC5E2}"/>
            </c:ext>
          </c:extLst>
        </c:ser>
        <c:ser>
          <c:idx val="5"/>
          <c:order val="5"/>
          <c:tx>
            <c:strRef>
              <c:f>Sheet1!$G$1</c:f>
              <c:strCache>
                <c:ptCount val="1"/>
                <c:pt idx="0">
                  <c:v>T6</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Sheet1!$G$2:$G$6</c:f>
              <c:numCache>
                <c:formatCode>General</c:formatCode>
                <c:ptCount val="5"/>
                <c:pt idx="0">
                  <c:v>30</c:v>
                </c:pt>
                <c:pt idx="1">
                  <c:v>1</c:v>
                </c:pt>
                <c:pt idx="2">
                  <c:v>0</c:v>
                </c:pt>
                <c:pt idx="3">
                  <c:v>8</c:v>
                </c:pt>
                <c:pt idx="4">
                  <c:v>3</c:v>
                </c:pt>
              </c:numCache>
            </c:numRef>
          </c:val>
          <c:extLst>
            <c:ext xmlns:c16="http://schemas.microsoft.com/office/drawing/2014/chart" uri="{C3380CC4-5D6E-409C-BE32-E72D297353CC}">
              <c16:uniqueId val="{00000005-9464-49EF-9D63-8D52A27EC5E2}"/>
            </c:ext>
          </c:extLst>
        </c:ser>
        <c:ser>
          <c:idx val="6"/>
          <c:order val="6"/>
          <c:tx>
            <c:strRef>
              <c:f>Sheet1!$H$1</c:f>
              <c:strCache>
                <c:ptCount val="1"/>
                <c:pt idx="0">
                  <c:v>T7</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Sheet1!$H$2:$H$6</c:f>
              <c:numCache>
                <c:formatCode>General</c:formatCode>
                <c:ptCount val="5"/>
                <c:pt idx="0">
                  <c:v>30</c:v>
                </c:pt>
                <c:pt idx="1">
                  <c:v>3</c:v>
                </c:pt>
                <c:pt idx="2">
                  <c:v>0</c:v>
                </c:pt>
                <c:pt idx="3">
                  <c:v>12</c:v>
                </c:pt>
                <c:pt idx="4">
                  <c:v>3</c:v>
                </c:pt>
              </c:numCache>
            </c:numRef>
          </c:val>
          <c:extLst>
            <c:ext xmlns:c16="http://schemas.microsoft.com/office/drawing/2014/chart" uri="{C3380CC4-5D6E-409C-BE32-E72D297353CC}">
              <c16:uniqueId val="{00000006-9464-49EF-9D63-8D52A27EC5E2}"/>
            </c:ext>
          </c:extLst>
        </c:ser>
        <c:ser>
          <c:idx val="7"/>
          <c:order val="7"/>
          <c:tx>
            <c:strRef>
              <c:f>Sheet1!$I$1</c:f>
              <c:strCache>
                <c:ptCount val="1"/>
                <c:pt idx="0">
                  <c:v>T8</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Sheet1!$I$2:$I$6</c:f>
              <c:numCache>
                <c:formatCode>General</c:formatCode>
                <c:ptCount val="5"/>
                <c:pt idx="0">
                  <c:v>45</c:v>
                </c:pt>
                <c:pt idx="1">
                  <c:v>0</c:v>
                </c:pt>
                <c:pt idx="2">
                  <c:v>0</c:v>
                </c:pt>
                <c:pt idx="3">
                  <c:v>2</c:v>
                </c:pt>
                <c:pt idx="4">
                  <c:v>2</c:v>
                </c:pt>
              </c:numCache>
            </c:numRef>
          </c:val>
          <c:extLst>
            <c:ext xmlns:c16="http://schemas.microsoft.com/office/drawing/2014/chart" uri="{C3380CC4-5D6E-409C-BE32-E72D297353CC}">
              <c16:uniqueId val="{00000007-9464-49EF-9D63-8D52A27EC5E2}"/>
            </c:ext>
          </c:extLst>
        </c:ser>
        <c:ser>
          <c:idx val="8"/>
          <c:order val="8"/>
          <c:tx>
            <c:strRef>
              <c:f>Sheet1!$J$1</c:f>
              <c:strCache>
                <c:ptCount val="1"/>
                <c:pt idx="0">
                  <c:v>T9</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Sheet1!$J$2:$J$6</c:f>
              <c:numCache>
                <c:formatCode>General</c:formatCode>
                <c:ptCount val="5"/>
                <c:pt idx="0">
                  <c:v>51</c:v>
                </c:pt>
                <c:pt idx="1">
                  <c:v>3</c:v>
                </c:pt>
                <c:pt idx="2">
                  <c:v>4</c:v>
                </c:pt>
                <c:pt idx="3">
                  <c:v>6</c:v>
                </c:pt>
                <c:pt idx="4">
                  <c:v>2</c:v>
                </c:pt>
              </c:numCache>
            </c:numRef>
          </c:val>
          <c:extLst>
            <c:ext xmlns:c16="http://schemas.microsoft.com/office/drawing/2014/chart" uri="{C3380CC4-5D6E-409C-BE32-E72D297353CC}">
              <c16:uniqueId val="{00000008-9464-49EF-9D63-8D52A27EC5E2}"/>
            </c:ext>
          </c:extLst>
        </c:ser>
        <c:ser>
          <c:idx val="9"/>
          <c:order val="9"/>
          <c:tx>
            <c:strRef>
              <c:f>Sheet1!$K$1</c:f>
              <c:strCache>
                <c:ptCount val="1"/>
                <c:pt idx="0">
                  <c:v>TB</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Quốc Tặng</c:v>
                </c:pt>
                <c:pt idx="1">
                  <c:v>Lâm Mobile</c:v>
                </c:pt>
                <c:pt idx="2">
                  <c:v>Minh Thế</c:v>
                </c:pt>
                <c:pt idx="3">
                  <c:v>Bình An</c:v>
                </c:pt>
                <c:pt idx="4">
                  <c:v>Thạch 2</c:v>
                </c:pt>
              </c:strCache>
            </c:strRef>
          </c:cat>
          <c:val>
            <c:numRef>
              <c:f>Sheet1!$K$2:$K$6</c:f>
              <c:numCache>
                <c:formatCode>General</c:formatCode>
                <c:ptCount val="5"/>
                <c:pt idx="0">
                  <c:v>22</c:v>
                </c:pt>
                <c:pt idx="1">
                  <c:v>1</c:v>
                </c:pt>
                <c:pt idx="2">
                  <c:v>1</c:v>
                </c:pt>
                <c:pt idx="3">
                  <c:v>5</c:v>
                </c:pt>
                <c:pt idx="4">
                  <c:v>3</c:v>
                </c:pt>
              </c:numCache>
            </c:numRef>
          </c:val>
          <c:extLst>
            <c:ext xmlns:c16="http://schemas.microsoft.com/office/drawing/2014/chart" uri="{C3380CC4-5D6E-409C-BE32-E72D297353CC}">
              <c16:uniqueId val="{00000009-9464-49EF-9D63-8D52A27EC5E2}"/>
            </c:ext>
          </c:extLst>
        </c:ser>
        <c:dLbls>
          <c:dLblPos val="outEnd"/>
          <c:showLegendKey val="0"/>
          <c:showVal val="1"/>
          <c:showCatName val="0"/>
          <c:showSerName val="0"/>
          <c:showPercent val="0"/>
          <c:showBubbleSize val="0"/>
        </c:dLbls>
        <c:gapWidth val="219"/>
        <c:overlap val="-27"/>
        <c:axId val="1070391760"/>
        <c:axId val="1070393840"/>
      </c:barChart>
      <c:catAx>
        <c:axId val="1070391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070393840"/>
        <c:crosses val="autoZero"/>
        <c:auto val="1"/>
        <c:lblAlgn val="ctr"/>
        <c:lblOffset val="100"/>
        <c:noMultiLvlLbl val="0"/>
      </c:catAx>
      <c:valAx>
        <c:axId val="1070393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070391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lumMod val="65000"/>
                    <a:lumOff val="35000"/>
                  </a:schemeClr>
                </a:solidFill>
                <a:latin typeface="+mn-lt"/>
                <a:ea typeface="+mn-ea"/>
                <a:cs typeface="+mn-cs"/>
              </a:defRPr>
            </a:pPr>
            <a:r>
              <a:rPr lang="vi-VN" dirty="0"/>
              <a:t>S.O từng shop 09 tháng 2024</a:t>
            </a:r>
            <a:endParaRPr lang="en-US" dirty="0"/>
          </a:p>
        </c:rich>
      </c:tx>
      <c:overlay val="0"/>
      <c:spPr>
        <a:noFill/>
        <a:ln>
          <a:noFill/>
        </a:ln>
        <a:effectLst/>
      </c:spPr>
      <c:txPr>
        <a:bodyPr rot="0" spcFirstLastPara="1" vertOverflow="ellipsis" vert="horz" wrap="square" anchor="ctr" anchorCtr="1"/>
        <a:lstStyle/>
        <a:p>
          <a:pPr>
            <a:defRPr sz="9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Sheet1!$B$2:$B$6</c:f>
              <c:numCache>
                <c:formatCode>General</c:formatCode>
                <c:ptCount val="5"/>
                <c:pt idx="0">
                  <c:v>4</c:v>
                </c:pt>
                <c:pt idx="1">
                  <c:v>3</c:v>
                </c:pt>
                <c:pt idx="2">
                  <c:v>9</c:v>
                </c:pt>
                <c:pt idx="3">
                  <c:v>0</c:v>
                </c:pt>
                <c:pt idx="4">
                  <c:v>0</c:v>
                </c:pt>
              </c:numCache>
            </c:numRef>
          </c:val>
          <c:extLst>
            <c:ext xmlns:c16="http://schemas.microsoft.com/office/drawing/2014/chart" uri="{C3380CC4-5D6E-409C-BE32-E72D297353CC}">
              <c16:uniqueId val="{00000000-8BA9-4771-87A4-305358705845}"/>
            </c:ext>
          </c:extLst>
        </c:ser>
        <c:ser>
          <c:idx val="1"/>
          <c:order val="1"/>
          <c:tx>
            <c:strRef>
              <c:f>Sheet1!$C$1</c:f>
              <c:strCache>
                <c:ptCount val="1"/>
                <c:pt idx="0">
                  <c:v>T2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Sheet1!$C$2:$C$6</c:f>
              <c:numCache>
                <c:formatCode>General</c:formatCode>
                <c:ptCount val="5"/>
                <c:pt idx="0">
                  <c:v>0</c:v>
                </c:pt>
                <c:pt idx="1">
                  <c:v>0</c:v>
                </c:pt>
                <c:pt idx="2">
                  <c:v>1</c:v>
                </c:pt>
                <c:pt idx="3">
                  <c:v>0</c:v>
                </c:pt>
                <c:pt idx="4">
                  <c:v>0</c:v>
                </c:pt>
              </c:numCache>
            </c:numRef>
          </c:val>
          <c:extLst>
            <c:ext xmlns:c16="http://schemas.microsoft.com/office/drawing/2014/chart" uri="{C3380CC4-5D6E-409C-BE32-E72D297353CC}">
              <c16:uniqueId val="{00000001-8BA9-4771-87A4-305358705845}"/>
            </c:ext>
          </c:extLst>
        </c:ser>
        <c:ser>
          <c:idx val="2"/>
          <c:order val="2"/>
          <c:tx>
            <c:strRef>
              <c:f>Sheet1!$D$1</c:f>
              <c:strCache>
                <c:ptCount val="1"/>
                <c:pt idx="0">
                  <c:v>T3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Sheet1!$D$2:$D$6</c:f>
              <c:numCache>
                <c:formatCode>General</c:formatCode>
                <c:ptCount val="5"/>
                <c:pt idx="0">
                  <c:v>0</c:v>
                </c:pt>
                <c:pt idx="1">
                  <c:v>0</c:v>
                </c:pt>
                <c:pt idx="2">
                  <c:v>4</c:v>
                </c:pt>
                <c:pt idx="3">
                  <c:v>0</c:v>
                </c:pt>
                <c:pt idx="4">
                  <c:v>0</c:v>
                </c:pt>
              </c:numCache>
            </c:numRef>
          </c:val>
          <c:extLst>
            <c:ext xmlns:c16="http://schemas.microsoft.com/office/drawing/2014/chart" uri="{C3380CC4-5D6E-409C-BE32-E72D297353CC}">
              <c16:uniqueId val="{00000002-8BA9-4771-87A4-305358705845}"/>
            </c:ext>
          </c:extLst>
        </c:ser>
        <c:ser>
          <c:idx val="3"/>
          <c:order val="3"/>
          <c:tx>
            <c:strRef>
              <c:f>Sheet1!$E$1</c:f>
              <c:strCache>
                <c:ptCount val="1"/>
                <c:pt idx="0">
                  <c:v>T4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Sheet1!$E$2:$E$6</c:f>
              <c:numCache>
                <c:formatCode>General</c:formatCode>
                <c:ptCount val="5"/>
                <c:pt idx="0">
                  <c:v>0</c:v>
                </c:pt>
                <c:pt idx="1">
                  <c:v>2</c:v>
                </c:pt>
                <c:pt idx="2">
                  <c:v>9</c:v>
                </c:pt>
                <c:pt idx="3">
                  <c:v>0</c:v>
                </c:pt>
                <c:pt idx="4">
                  <c:v>0</c:v>
                </c:pt>
              </c:numCache>
            </c:numRef>
          </c:val>
          <c:extLst>
            <c:ext xmlns:c16="http://schemas.microsoft.com/office/drawing/2014/chart" uri="{C3380CC4-5D6E-409C-BE32-E72D297353CC}">
              <c16:uniqueId val="{00000003-8BA9-4771-87A4-305358705845}"/>
            </c:ext>
          </c:extLst>
        </c:ser>
        <c:ser>
          <c:idx val="4"/>
          <c:order val="4"/>
          <c:tx>
            <c:strRef>
              <c:f>Sheet1!$F$1</c:f>
              <c:strCache>
                <c:ptCount val="1"/>
                <c:pt idx="0">
                  <c:v>T5</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Sheet1!$F$2:$F$6</c:f>
              <c:numCache>
                <c:formatCode>General</c:formatCode>
                <c:ptCount val="5"/>
                <c:pt idx="0">
                  <c:v>1</c:v>
                </c:pt>
                <c:pt idx="1">
                  <c:v>1</c:v>
                </c:pt>
                <c:pt idx="2">
                  <c:v>2</c:v>
                </c:pt>
                <c:pt idx="3">
                  <c:v>0</c:v>
                </c:pt>
                <c:pt idx="4">
                  <c:v>0</c:v>
                </c:pt>
              </c:numCache>
            </c:numRef>
          </c:val>
          <c:extLst>
            <c:ext xmlns:c16="http://schemas.microsoft.com/office/drawing/2014/chart" uri="{C3380CC4-5D6E-409C-BE32-E72D297353CC}">
              <c16:uniqueId val="{00000004-8BA9-4771-87A4-305358705845}"/>
            </c:ext>
          </c:extLst>
        </c:ser>
        <c:ser>
          <c:idx val="5"/>
          <c:order val="5"/>
          <c:tx>
            <c:strRef>
              <c:f>Sheet1!$G$1</c:f>
              <c:strCache>
                <c:ptCount val="1"/>
                <c:pt idx="0">
                  <c:v>T6</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Sheet1!$G$2:$G$6</c:f>
              <c:numCache>
                <c:formatCode>General</c:formatCode>
                <c:ptCount val="5"/>
                <c:pt idx="0">
                  <c:v>5</c:v>
                </c:pt>
                <c:pt idx="1">
                  <c:v>0</c:v>
                </c:pt>
                <c:pt idx="2">
                  <c:v>2</c:v>
                </c:pt>
                <c:pt idx="3">
                  <c:v>0</c:v>
                </c:pt>
                <c:pt idx="4">
                  <c:v>0</c:v>
                </c:pt>
              </c:numCache>
            </c:numRef>
          </c:val>
          <c:extLst>
            <c:ext xmlns:c16="http://schemas.microsoft.com/office/drawing/2014/chart" uri="{C3380CC4-5D6E-409C-BE32-E72D297353CC}">
              <c16:uniqueId val="{00000005-8BA9-4771-87A4-305358705845}"/>
            </c:ext>
          </c:extLst>
        </c:ser>
        <c:ser>
          <c:idx val="6"/>
          <c:order val="6"/>
          <c:tx>
            <c:strRef>
              <c:f>Sheet1!$H$1</c:f>
              <c:strCache>
                <c:ptCount val="1"/>
                <c:pt idx="0">
                  <c:v>T7</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Sheet1!$H$2:$H$6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6-8BA9-4771-87A4-305358705845}"/>
            </c:ext>
          </c:extLst>
        </c:ser>
        <c:ser>
          <c:idx val="7"/>
          <c:order val="7"/>
          <c:tx>
            <c:strRef>
              <c:f>Sheet1!$I$1</c:f>
              <c:strCache>
                <c:ptCount val="1"/>
                <c:pt idx="0">
                  <c:v>T8</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Sheet1!$I$2:$I$6</c:f>
              <c:numCache>
                <c:formatCode>General</c:formatCode>
                <c:ptCount val="5"/>
                <c:pt idx="0">
                  <c:v>0</c:v>
                </c:pt>
                <c:pt idx="1">
                  <c:v>0</c:v>
                </c:pt>
                <c:pt idx="2">
                  <c:v>0</c:v>
                </c:pt>
                <c:pt idx="3">
                  <c:v>1</c:v>
                </c:pt>
                <c:pt idx="4">
                  <c:v>0</c:v>
                </c:pt>
              </c:numCache>
            </c:numRef>
          </c:val>
          <c:extLst>
            <c:ext xmlns:c16="http://schemas.microsoft.com/office/drawing/2014/chart" uri="{C3380CC4-5D6E-409C-BE32-E72D297353CC}">
              <c16:uniqueId val="{00000007-8BA9-4771-87A4-305358705845}"/>
            </c:ext>
          </c:extLst>
        </c:ser>
        <c:ser>
          <c:idx val="8"/>
          <c:order val="8"/>
          <c:tx>
            <c:strRef>
              <c:f>Sheet1!$J$1</c:f>
              <c:strCache>
                <c:ptCount val="1"/>
                <c:pt idx="0">
                  <c:v>T9</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Sheet1!$J$2:$J$6</c:f>
              <c:numCache>
                <c:formatCode>General</c:formatCode>
                <c:ptCount val="5"/>
                <c:pt idx="0">
                  <c:v>8</c:v>
                </c:pt>
                <c:pt idx="1">
                  <c:v>6</c:v>
                </c:pt>
                <c:pt idx="2">
                  <c:v>0</c:v>
                </c:pt>
                <c:pt idx="3">
                  <c:v>0</c:v>
                </c:pt>
                <c:pt idx="4">
                  <c:v>2</c:v>
                </c:pt>
              </c:numCache>
            </c:numRef>
          </c:val>
          <c:extLst>
            <c:ext xmlns:c16="http://schemas.microsoft.com/office/drawing/2014/chart" uri="{C3380CC4-5D6E-409C-BE32-E72D297353CC}">
              <c16:uniqueId val="{00000008-8BA9-4771-87A4-305358705845}"/>
            </c:ext>
          </c:extLst>
        </c:ser>
        <c:ser>
          <c:idx val="9"/>
          <c:order val="9"/>
          <c:tx>
            <c:strRef>
              <c:f>Sheet1!$K$1</c:f>
              <c:strCache>
                <c:ptCount val="1"/>
                <c:pt idx="0">
                  <c:v>TB</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Hoàng Thắng</c:v>
                </c:pt>
                <c:pt idx="1">
                  <c:v>Ngọc Dung</c:v>
                </c:pt>
                <c:pt idx="2">
                  <c:v>Vũ 2</c:v>
                </c:pt>
                <c:pt idx="3">
                  <c:v>Thanh Dũng</c:v>
                </c:pt>
                <c:pt idx="4">
                  <c:v>Anh Thương</c:v>
                </c:pt>
              </c:strCache>
            </c:strRef>
          </c:cat>
          <c:val>
            <c:numRef>
              <c:f>Sheet1!$K$2:$K$6</c:f>
              <c:numCache>
                <c:formatCode>General</c:formatCode>
                <c:ptCount val="5"/>
                <c:pt idx="0">
                  <c:v>2</c:v>
                </c:pt>
                <c:pt idx="1">
                  <c:v>1</c:v>
                </c:pt>
                <c:pt idx="2">
                  <c:v>3</c:v>
                </c:pt>
                <c:pt idx="3">
                  <c:v>0</c:v>
                </c:pt>
                <c:pt idx="4">
                  <c:v>0</c:v>
                </c:pt>
              </c:numCache>
            </c:numRef>
          </c:val>
          <c:extLst>
            <c:ext xmlns:c16="http://schemas.microsoft.com/office/drawing/2014/chart" uri="{C3380CC4-5D6E-409C-BE32-E72D297353CC}">
              <c16:uniqueId val="{00000009-8BA9-4771-87A4-305358705845}"/>
            </c:ext>
          </c:extLst>
        </c:ser>
        <c:dLbls>
          <c:dLblPos val="outEnd"/>
          <c:showLegendKey val="0"/>
          <c:showVal val="1"/>
          <c:showCatName val="0"/>
          <c:showSerName val="0"/>
          <c:showPercent val="0"/>
          <c:showBubbleSize val="0"/>
        </c:dLbls>
        <c:gapWidth val="219"/>
        <c:overlap val="-27"/>
        <c:axId val="1070391760"/>
        <c:axId val="1070393840"/>
      </c:barChart>
      <c:catAx>
        <c:axId val="1070391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070393840"/>
        <c:crosses val="autoZero"/>
        <c:auto val="1"/>
        <c:lblAlgn val="ctr"/>
        <c:lblOffset val="100"/>
        <c:noMultiLvlLbl val="0"/>
      </c:catAx>
      <c:valAx>
        <c:axId val="1070393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070391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4137592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3282829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1105964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277442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179652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55096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1559544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2553612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1571341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390511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6DBF33-5894-47F5-B9BC-DF3EDA43E96D}" type="datetimeFigureOut">
              <a:rPr lang="en-US" smtClean="0"/>
              <a:t>05-Oct-26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100D35-3F1F-4131-AECA-F9146553ABCE}" type="slidenum">
              <a:rPr lang="en-US" smtClean="0"/>
              <a:t>‹#›</a:t>
            </a:fld>
            <a:endParaRPr lang="en-US" dirty="0"/>
          </a:p>
        </p:txBody>
      </p:sp>
    </p:spTree>
    <p:extLst>
      <p:ext uri="{BB962C8B-B14F-4D97-AF65-F5344CB8AC3E}">
        <p14:creationId xmlns:p14="http://schemas.microsoft.com/office/powerpoint/2010/main" val="3079656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 &amp; Subtitle">
    <p:bg>
      <p:bgPr>
        <a:solidFill>
          <a:srgbClr val="FFFFFF"/>
        </a:solidFill>
        <a:effectLst/>
      </p:bgPr>
    </p:bg>
    <p:spTree>
      <p:nvGrpSpPr>
        <p:cNvPr id="1" name=""/>
        <p:cNvGrpSpPr/>
        <p:nvPr/>
      </p:nvGrpSpPr>
      <p:grpSpPr>
        <a:xfrm>
          <a:off x="0" y="0"/>
          <a:ext cx="0" cy="0"/>
          <a:chOff x="0" y="0"/>
          <a:chExt cx="0" cy="0"/>
        </a:xfrm>
      </p:grpSpPr>
      <p:sp>
        <p:nvSpPr>
          <p:cNvPr id="121" name="Title Text"/>
          <p:cNvSpPr txBox="1">
            <a:spLocks noGrp="1"/>
          </p:cNvSpPr>
          <p:nvPr>
            <p:ph type="title"/>
          </p:nvPr>
        </p:nvSpPr>
        <p:spPr>
          <a:xfrm>
            <a:off x="889000" y="1149350"/>
            <a:ext cx="10414000" cy="2324100"/>
          </a:xfrm>
          <a:prstGeom prst="rect">
            <a:avLst/>
          </a:prstGeom>
        </p:spPr>
        <p:txBody>
          <a:bodyPr anchor="b"/>
          <a:lstStyle>
            <a:lvl1pPr>
              <a:defRPr>
                <a:solidFill>
                  <a:srgbClr val="000000"/>
                </a:solidFill>
              </a:defRPr>
            </a:lvl1pPr>
          </a:lstStyle>
          <a:p>
            <a:r>
              <a:t>Title Text</a:t>
            </a:r>
          </a:p>
        </p:txBody>
      </p:sp>
      <p:sp>
        <p:nvSpPr>
          <p:cNvPr id="122" name="Body Level One…"/>
          <p:cNvSpPr txBox="1">
            <a:spLocks noGrp="1"/>
          </p:cNvSpPr>
          <p:nvPr>
            <p:ph type="body" sz="quarter" idx="1"/>
          </p:nvPr>
        </p:nvSpPr>
        <p:spPr>
          <a:xfrm>
            <a:off x="889000" y="3536950"/>
            <a:ext cx="10414000" cy="793750"/>
          </a:xfrm>
          <a:prstGeom prst="rect">
            <a:avLst/>
          </a:prstGeom>
        </p:spPr>
        <p:txBody>
          <a:bodyPr anchor="t"/>
          <a:lstStyle>
            <a:lvl1pPr marL="0" indent="0" algn="ctr">
              <a:spcBef>
                <a:spcPts val="0"/>
              </a:spcBef>
              <a:buClrTx/>
              <a:buSzTx/>
              <a:buNone/>
              <a:defRPr sz="2700">
                <a:solidFill>
                  <a:srgbClr val="000000"/>
                </a:solidFill>
              </a:defRPr>
            </a:lvl1pPr>
            <a:lvl2pPr marL="0" indent="0" algn="ctr">
              <a:spcBef>
                <a:spcPts val="0"/>
              </a:spcBef>
              <a:buClrTx/>
              <a:buSzTx/>
              <a:buNone/>
              <a:defRPr sz="2700">
                <a:solidFill>
                  <a:srgbClr val="000000"/>
                </a:solidFill>
              </a:defRPr>
            </a:lvl2pPr>
            <a:lvl3pPr marL="0" indent="0" algn="ctr">
              <a:spcBef>
                <a:spcPts val="0"/>
              </a:spcBef>
              <a:buClrTx/>
              <a:buSzTx/>
              <a:buNone/>
              <a:defRPr sz="2700">
                <a:solidFill>
                  <a:srgbClr val="000000"/>
                </a:solidFill>
              </a:defRPr>
            </a:lvl3pPr>
            <a:lvl4pPr marL="0" indent="0" algn="ctr">
              <a:spcBef>
                <a:spcPts val="0"/>
              </a:spcBef>
              <a:buClrTx/>
              <a:buSzTx/>
              <a:buNone/>
              <a:defRPr sz="2700">
                <a:solidFill>
                  <a:srgbClr val="000000"/>
                </a:solidFill>
              </a:defRPr>
            </a:lvl4pPr>
            <a:lvl5pPr marL="0" indent="0" algn="ctr">
              <a:spcBef>
                <a:spcPts val="0"/>
              </a:spcBef>
              <a:buClrTx/>
              <a:buSzTx/>
              <a:buNone/>
              <a:defRPr sz="27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23" name="Slide Number"/>
          <p:cNvSpPr txBox="1">
            <a:spLocks noGrp="1"/>
          </p:cNvSpPr>
          <p:nvPr>
            <p:ph type="sldNum" sz="quarter" idx="2"/>
          </p:nvPr>
        </p:nvSpPr>
        <p:spPr>
          <a:xfrm>
            <a:off x="8610600" y="6356350"/>
            <a:ext cx="2743200" cy="365125"/>
          </a:xfrm>
          <a:prstGeom prst="rect">
            <a:avLst/>
          </a:prstGeom>
        </p:spPr>
        <p:txBody>
          <a:bodyPr/>
          <a:lstStyle>
            <a:lvl1pPr>
              <a:defRPr>
                <a:solidFill>
                  <a:srgbClr val="000000"/>
                </a:solidFill>
              </a:defRPr>
            </a:lvl1pPr>
          </a:lstStyle>
          <a:p>
            <a:fld id="{86CB4B4D-7CA3-9044-876B-883B54F8677D}" type="slidenum">
              <a:rPr/>
              <a:pPr/>
              <a:t>‹#›</a:t>
            </a:fld>
            <a:endParaRPr dirty="0"/>
          </a:p>
        </p:txBody>
      </p:sp>
    </p:spTree>
    <p:extLst>
      <p:ext uri="{BB962C8B-B14F-4D97-AF65-F5344CB8AC3E}">
        <p14:creationId xmlns:p14="http://schemas.microsoft.com/office/powerpoint/2010/main" val="81642019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Section Divider 章节页">
    <p:bg>
      <p:bgPr>
        <a:solidFill>
          <a:srgbClr val="046A38"/>
        </a:solidFill>
        <a:effectLst/>
      </p:bgPr>
    </p:bg>
    <p:spTree>
      <p:nvGrpSpPr>
        <p:cNvPr id="1" name=""/>
        <p:cNvGrpSpPr/>
        <p:nvPr/>
      </p:nvGrpSpPr>
      <p:grpSpPr>
        <a:xfrm>
          <a:off x="0" y="0"/>
          <a:ext cx="0" cy="0"/>
          <a:chOff x="0" y="0"/>
          <a:chExt cx="0" cy="0"/>
        </a:xfrm>
      </p:grpSpPr>
      <p:sp>
        <p:nvSpPr>
          <p:cNvPr id="3" name="标题 2"/>
          <p:cNvSpPr>
            <a:spLocks noGrp="1"/>
          </p:cNvSpPr>
          <p:nvPr>
            <p:ph type="title" hasCustomPrompt="1"/>
          </p:nvPr>
        </p:nvSpPr>
        <p:spPr>
          <a:xfrm>
            <a:off x="366595" y="347629"/>
            <a:ext cx="11420888" cy="536842"/>
          </a:xfrm>
        </p:spPr>
        <p:txBody>
          <a:bodyPr/>
          <a:lstStyle>
            <a:lvl1pPr>
              <a:defRPr>
                <a:solidFill>
                  <a:srgbClr val="2DC84D"/>
                </a:solidFill>
              </a:defRPr>
            </a:lvl1pPr>
          </a:lstStyle>
          <a:p>
            <a:r>
              <a:rPr kumimoji="1" lang="zh-CN" altLang="en-US" dirty="0"/>
              <a:t>单击此处编辑母版标题样式 章节标题</a:t>
            </a:r>
          </a:p>
        </p:txBody>
      </p:sp>
      <p:sp>
        <p:nvSpPr>
          <p:cNvPr id="5" name="文本占位符 4"/>
          <p:cNvSpPr>
            <a:spLocks noGrp="1"/>
          </p:cNvSpPr>
          <p:nvPr>
            <p:ph type="body" sz="quarter" idx="10" hasCustomPrompt="1"/>
          </p:nvPr>
        </p:nvSpPr>
        <p:spPr>
          <a:xfrm>
            <a:off x="366595" y="1232100"/>
            <a:ext cx="5534358" cy="554171"/>
          </a:xfrm>
          <a:prstGeom prst="rect">
            <a:avLst/>
          </a:prstGeom>
        </p:spPr>
        <p:txBody>
          <a:bodyPr anchor="ctr"/>
          <a:lstStyle>
            <a:lvl1pPr>
              <a:defRPr baseline="0">
                <a:solidFill>
                  <a:srgbClr val="2DC84D"/>
                </a:solidFill>
                <a:latin typeface="OPPOSans B" charset="-122"/>
                <a:ea typeface="OPPOSans B" charset="-122"/>
                <a:cs typeface="OPPOSans B" charset="-122"/>
              </a:defRPr>
            </a:lvl1pPr>
            <a:lvl2pPr>
              <a:defRPr>
                <a:solidFill>
                  <a:srgbClr val="2DC84D"/>
                </a:solidFill>
              </a:defRPr>
            </a:lvl2pPr>
            <a:lvl3pPr>
              <a:defRPr>
                <a:solidFill>
                  <a:srgbClr val="2DC84D"/>
                </a:solidFill>
              </a:defRPr>
            </a:lvl3pPr>
            <a:lvl4pPr>
              <a:defRPr>
                <a:solidFill>
                  <a:srgbClr val="2DC84D"/>
                </a:solidFill>
              </a:defRPr>
            </a:lvl4pPr>
            <a:lvl5pPr>
              <a:defRPr>
                <a:solidFill>
                  <a:srgbClr val="2DC84D"/>
                </a:solidFill>
              </a:defRPr>
            </a:lvl5pPr>
          </a:lstStyle>
          <a:p>
            <a:pPr lvl="0"/>
            <a:r>
              <a:rPr kumimoji="1" lang="zh-CN" altLang="en-US" dirty="0"/>
              <a:t>单击此处编辑母版文本样式 二级标题</a:t>
            </a:r>
          </a:p>
        </p:txBody>
      </p:sp>
      <p:pic>
        <p:nvPicPr>
          <p:cNvPr id="8" name="图片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6595" y="6481945"/>
            <a:ext cx="666212" cy="158400"/>
          </a:xfrm>
          <a:prstGeom prst="rect">
            <a:avLst/>
          </a:prstGeom>
        </p:spPr>
      </p:pic>
      <p:graphicFrame>
        <p:nvGraphicFramePr>
          <p:cNvPr id="9" name="表格 8"/>
          <p:cNvGraphicFramePr>
            <a:graphicFrameLocks noGrp="1"/>
          </p:cNvGraphicFramePr>
          <p:nvPr userDrawn="1"/>
        </p:nvGraphicFramePr>
        <p:xfrm>
          <a:off x="12394857" y="0"/>
          <a:ext cx="1549743" cy="6858000"/>
        </p:xfrm>
        <a:graphic>
          <a:graphicData uri="http://schemas.openxmlformats.org/drawingml/2006/table">
            <a:tbl>
              <a:tblPr firstRow="1" bandRow="1">
                <a:tableStyleId>{5C22544A-7EE6-4342-B048-85BDC9FD1C3A}</a:tableStyleId>
              </a:tblPr>
              <a:tblGrid>
                <a:gridCol w="1549743">
                  <a:extLst>
                    <a:ext uri="{9D8B030D-6E8A-4147-A177-3AD203B41FA5}">
                      <a16:colId xmlns:a16="http://schemas.microsoft.com/office/drawing/2014/main" val="20000"/>
                    </a:ext>
                  </a:extLst>
                </a:gridCol>
              </a:tblGrid>
              <a:tr h="1714500">
                <a:tc>
                  <a:txBody>
                    <a:bodyPr/>
                    <a:lstStyle/>
                    <a:p>
                      <a:pPr algn="l"/>
                      <a:endParaRPr lang="en-US" altLang="zh-CN" sz="1400" b="0" dirty="0">
                        <a:latin typeface="OPPOSans R" charset="-122"/>
                        <a:ea typeface="OPPOSans R" charset="-122"/>
                        <a:cs typeface="OPPOSans R" charset="-122"/>
                      </a:endParaRPr>
                    </a:p>
                    <a:p>
                      <a:pPr algn="l"/>
                      <a:r>
                        <a:rPr lang="en-US" altLang="zh-CN" sz="1400" b="0" dirty="0">
                          <a:latin typeface="OPPOSans R" charset="-122"/>
                          <a:ea typeface="OPPOSans R" charset="-122"/>
                          <a:cs typeface="OPPOSans R" charset="-122"/>
                        </a:rPr>
                        <a:t>R 4</a:t>
                      </a:r>
                    </a:p>
                    <a:p>
                      <a:pPr algn="l"/>
                      <a:r>
                        <a:rPr lang="en-US" altLang="zh-CN" sz="1400" b="0" dirty="0">
                          <a:latin typeface="OPPOSans R" charset="-122"/>
                          <a:ea typeface="OPPOSans R" charset="-122"/>
                          <a:cs typeface="OPPOSans R" charset="-122"/>
                        </a:rPr>
                        <a:t>G 106</a:t>
                      </a:r>
                    </a:p>
                    <a:p>
                      <a:pPr algn="l"/>
                      <a:r>
                        <a:rPr lang="en-US" altLang="zh-CN" sz="1400" b="0" dirty="0">
                          <a:latin typeface="OPPOSans R" charset="-122"/>
                          <a:ea typeface="OPPOSans R" charset="-122"/>
                          <a:cs typeface="OPPOSans R" charset="-122"/>
                        </a:rPr>
                        <a:t>B 56</a:t>
                      </a:r>
                    </a:p>
                    <a:p>
                      <a:pPr algn="l"/>
                      <a:endParaRPr lang="en-US" altLang="zh-CN" sz="1400" b="0" dirty="0">
                        <a:latin typeface="OPPOSans R" charset="-122"/>
                        <a:ea typeface="OPPOSans R" charset="-122"/>
                        <a:cs typeface="OPPOSans R" charset="-122"/>
                      </a:endParaRPr>
                    </a:p>
                    <a:p>
                      <a:pPr algn="l"/>
                      <a:r>
                        <a:rPr lang="en-US" altLang="zh-CN" sz="1400" b="0" dirty="0">
                          <a:latin typeface="OPPOSans R" charset="-122"/>
                          <a:ea typeface="OPPOSans R" charset="-122"/>
                          <a:cs typeface="OPPOSans R" charset="-122"/>
                        </a:rPr>
                        <a:t>Dark</a:t>
                      </a:r>
                      <a:r>
                        <a:rPr lang="zh-CN" altLang="en-US" sz="1400" b="0" dirty="0">
                          <a:latin typeface="OPPOSans R" charset="-122"/>
                          <a:ea typeface="OPPOSans R" charset="-122"/>
                          <a:cs typeface="OPPOSans R" charset="-122"/>
                        </a:rPr>
                        <a:t> </a:t>
                      </a:r>
                      <a:r>
                        <a:rPr lang="en-US" altLang="zh-CN" sz="1400" b="0" dirty="0">
                          <a:latin typeface="OPPOSans R" charset="-122"/>
                          <a:ea typeface="OPPOSans R" charset="-122"/>
                          <a:cs typeface="OPPOSans R" charset="-122"/>
                        </a:rPr>
                        <a:t>Green</a:t>
                      </a:r>
                      <a:endParaRPr lang="zh-CN" altLang="en-US" sz="1400" b="0" dirty="0">
                        <a:latin typeface="OPPOSans R" charset="-122"/>
                        <a:ea typeface="OPPOSans R" charset="-122"/>
                        <a:cs typeface="OPPOSans R" charset="-122"/>
                      </a:endParaRPr>
                    </a:p>
                  </a:txBody>
                  <a:tcPr marL="45720" marR="45720" marT="22860" marB="228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46A38"/>
                    </a:solidFill>
                  </a:tcPr>
                </a:tc>
                <a:extLst>
                  <a:ext uri="{0D108BD9-81ED-4DB2-BD59-A6C34878D82A}">
                    <a16:rowId xmlns:a16="http://schemas.microsoft.com/office/drawing/2014/main" val="10000"/>
                  </a:ext>
                </a:extLst>
              </a:tr>
              <a:tr h="1714500">
                <a:tc>
                  <a:txBody>
                    <a:bodyPr/>
                    <a:lstStyle/>
                    <a:p>
                      <a:pPr algn="l"/>
                      <a:endParaRPr lang="en-US" altLang="zh-CN" sz="1400" b="0" dirty="0">
                        <a:latin typeface="OPPOSans R" charset="-122"/>
                        <a:ea typeface="OPPOSans R" charset="-122"/>
                        <a:cs typeface="OPPOSans R" charset="-122"/>
                      </a:endParaRPr>
                    </a:p>
                    <a:p>
                      <a:pPr algn="l"/>
                      <a:r>
                        <a:rPr lang="en-US" altLang="zh-CN" sz="1400" b="0" dirty="0">
                          <a:latin typeface="OPPOSans R" charset="-122"/>
                          <a:ea typeface="OPPOSans R" charset="-122"/>
                          <a:cs typeface="OPPOSans R" charset="-122"/>
                        </a:rPr>
                        <a:t>R 45</a:t>
                      </a:r>
                    </a:p>
                    <a:p>
                      <a:pPr algn="l"/>
                      <a:r>
                        <a:rPr lang="en-US" altLang="zh-CN" sz="1400" b="0" dirty="0">
                          <a:latin typeface="OPPOSans R" charset="-122"/>
                          <a:ea typeface="OPPOSans R" charset="-122"/>
                          <a:cs typeface="OPPOSans R" charset="-122"/>
                        </a:rPr>
                        <a:t>G 200</a:t>
                      </a:r>
                    </a:p>
                    <a:p>
                      <a:pPr algn="l"/>
                      <a:r>
                        <a:rPr lang="en-US" altLang="zh-CN" sz="1400" b="0" dirty="0">
                          <a:latin typeface="OPPOSans R" charset="-122"/>
                          <a:ea typeface="OPPOSans R" charset="-122"/>
                          <a:cs typeface="OPPOSans R" charset="-122"/>
                        </a:rPr>
                        <a:t>B 77</a:t>
                      </a:r>
                    </a:p>
                    <a:p>
                      <a:pPr algn="l"/>
                      <a:endParaRPr lang="en-US" altLang="zh-CN" sz="1400" b="0" dirty="0">
                        <a:latin typeface="OPPOSans R" charset="-122"/>
                        <a:ea typeface="OPPOSans R" charset="-122"/>
                        <a:cs typeface="OPPOSans R" charset="-122"/>
                      </a:endParaRPr>
                    </a:p>
                    <a:p>
                      <a:pPr algn="l"/>
                      <a:r>
                        <a:rPr lang="en-US" altLang="zh-CN" sz="1400" b="0" dirty="0">
                          <a:latin typeface="OPPOSans R" charset="-122"/>
                          <a:ea typeface="OPPOSans R" charset="-122"/>
                          <a:cs typeface="OPPOSans R" charset="-122"/>
                        </a:rPr>
                        <a:t>Light</a:t>
                      </a:r>
                      <a:r>
                        <a:rPr lang="zh-CN" altLang="en-US" sz="1400" b="0" dirty="0">
                          <a:latin typeface="OPPOSans R" charset="-122"/>
                          <a:ea typeface="OPPOSans R" charset="-122"/>
                          <a:cs typeface="OPPOSans R" charset="-122"/>
                        </a:rPr>
                        <a:t> </a:t>
                      </a:r>
                      <a:r>
                        <a:rPr lang="en-US" altLang="zh-CN" sz="1400" b="0" dirty="0">
                          <a:latin typeface="OPPOSans R" charset="-122"/>
                          <a:ea typeface="OPPOSans R" charset="-122"/>
                          <a:cs typeface="OPPOSans R" charset="-122"/>
                        </a:rPr>
                        <a:t>Green</a:t>
                      </a:r>
                      <a:endParaRPr lang="zh-CN" altLang="en-US" sz="1400" b="0" dirty="0">
                        <a:latin typeface="OPPOSans R" charset="-122"/>
                        <a:ea typeface="OPPOSans R" charset="-122"/>
                        <a:cs typeface="OPPOSans R" charset="-122"/>
                      </a:endParaRPr>
                    </a:p>
                  </a:txBody>
                  <a:tcPr marL="45720" marR="45720" marT="22860" marB="228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2DC84D"/>
                    </a:solidFill>
                  </a:tcPr>
                </a:tc>
                <a:extLst>
                  <a:ext uri="{0D108BD9-81ED-4DB2-BD59-A6C34878D82A}">
                    <a16:rowId xmlns:a16="http://schemas.microsoft.com/office/drawing/2014/main" val="10001"/>
                  </a:ext>
                </a:extLst>
              </a:tr>
              <a:tr h="1714500">
                <a:tc>
                  <a:txBody>
                    <a:bodyPr/>
                    <a:lstStyle/>
                    <a:p>
                      <a:pPr algn="l"/>
                      <a:endParaRPr lang="en-US" altLang="zh-CN" sz="1400" b="0" dirty="0">
                        <a:latin typeface="OPPOSans R" charset="-122"/>
                        <a:ea typeface="OPPOSans R" charset="-122"/>
                        <a:cs typeface="OPPOSans R" charset="-122"/>
                      </a:endParaRPr>
                    </a:p>
                    <a:p>
                      <a:pPr algn="l"/>
                      <a:r>
                        <a:rPr lang="en-US" altLang="zh-CN" sz="1400" b="0" dirty="0">
                          <a:latin typeface="OPPOSans R" charset="-122"/>
                          <a:ea typeface="OPPOSans R" charset="-122"/>
                          <a:cs typeface="OPPOSans R" charset="-122"/>
                        </a:rPr>
                        <a:t>R 202</a:t>
                      </a:r>
                    </a:p>
                    <a:p>
                      <a:pPr algn="l"/>
                      <a:r>
                        <a:rPr lang="en-US" altLang="zh-CN" sz="1400" b="0" dirty="0">
                          <a:latin typeface="OPPOSans R" charset="-122"/>
                          <a:ea typeface="OPPOSans R" charset="-122"/>
                          <a:cs typeface="OPPOSans R" charset="-122"/>
                        </a:rPr>
                        <a:t>G 202</a:t>
                      </a:r>
                    </a:p>
                    <a:p>
                      <a:pPr algn="l"/>
                      <a:r>
                        <a:rPr lang="en-US" altLang="zh-CN" sz="1400" b="0" dirty="0">
                          <a:latin typeface="OPPOSans R" charset="-122"/>
                          <a:ea typeface="OPPOSans R" charset="-122"/>
                          <a:cs typeface="OPPOSans R" charset="-122"/>
                        </a:rPr>
                        <a:t>B 200</a:t>
                      </a:r>
                    </a:p>
                    <a:p>
                      <a:pPr algn="l"/>
                      <a:endParaRPr lang="en-US" altLang="zh-CN" sz="1400" b="0" dirty="0">
                        <a:latin typeface="OPPOSans R" charset="-122"/>
                        <a:ea typeface="OPPOSans R" charset="-122"/>
                        <a:cs typeface="OPPOSans R"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0" kern="1200" dirty="0">
                          <a:solidFill>
                            <a:schemeClr val="dk1"/>
                          </a:solidFill>
                          <a:effectLst/>
                          <a:latin typeface="OPPOSans R" charset="-122"/>
                          <a:ea typeface="OPPOSans R" charset="-122"/>
                          <a:cs typeface="OPPOSans R" charset="-122"/>
                        </a:rPr>
                        <a:t>Platinum </a:t>
                      </a:r>
                      <a:endParaRPr lang="en-US" altLang="zh-CN" sz="1400" b="0" dirty="0">
                        <a:effectLst/>
                        <a:latin typeface="OPPOSans R" charset="-122"/>
                        <a:ea typeface="OPPOSans R" charset="-122"/>
                        <a:cs typeface="OPPOSans R" charset="-122"/>
                      </a:endParaRPr>
                    </a:p>
                  </a:txBody>
                  <a:tcPr marL="45720" marR="45720" marT="22860" marB="228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ACAC8"/>
                    </a:solidFill>
                  </a:tcPr>
                </a:tc>
                <a:extLst>
                  <a:ext uri="{0D108BD9-81ED-4DB2-BD59-A6C34878D82A}">
                    <a16:rowId xmlns:a16="http://schemas.microsoft.com/office/drawing/2014/main" val="10002"/>
                  </a:ext>
                </a:extLst>
              </a:tr>
              <a:tr h="1714500">
                <a:tc>
                  <a:txBody>
                    <a:bodyPr/>
                    <a:lstStyle/>
                    <a:p>
                      <a:pPr algn="l"/>
                      <a:endParaRPr lang="en-US" altLang="zh-CN" sz="1400" b="0" dirty="0">
                        <a:latin typeface="OPPOSans R" charset="-122"/>
                        <a:ea typeface="OPPOSans R" charset="-122"/>
                        <a:cs typeface="OPPOSans R" charset="-122"/>
                      </a:endParaRPr>
                    </a:p>
                    <a:p>
                      <a:pPr algn="l"/>
                      <a:r>
                        <a:rPr lang="en-US" altLang="zh-CN" sz="1400" b="0" dirty="0">
                          <a:latin typeface="OPPOSans R" charset="-122"/>
                          <a:ea typeface="OPPOSans R" charset="-122"/>
                          <a:cs typeface="OPPOSans R" charset="-122"/>
                        </a:rPr>
                        <a:t>R 250</a:t>
                      </a:r>
                    </a:p>
                    <a:p>
                      <a:pPr algn="l"/>
                      <a:r>
                        <a:rPr lang="en-US" altLang="zh-CN" sz="1400" b="0" dirty="0">
                          <a:latin typeface="OPPOSans R" charset="-122"/>
                          <a:ea typeface="OPPOSans R" charset="-122"/>
                          <a:cs typeface="OPPOSans R" charset="-122"/>
                        </a:rPr>
                        <a:t>G 250</a:t>
                      </a:r>
                    </a:p>
                    <a:p>
                      <a:pPr algn="l"/>
                      <a:r>
                        <a:rPr lang="en-US" altLang="zh-CN" sz="1400" b="0" dirty="0">
                          <a:latin typeface="OPPOSans R" charset="-122"/>
                          <a:ea typeface="OPPOSans R" charset="-122"/>
                          <a:cs typeface="OPPOSans R" charset="-122"/>
                        </a:rPr>
                        <a:t>B 250</a:t>
                      </a:r>
                    </a:p>
                    <a:p>
                      <a:pPr algn="l"/>
                      <a:endParaRPr lang="en-US" altLang="zh-CN" sz="1400" b="0" dirty="0">
                        <a:latin typeface="OPPOSans R" charset="-122"/>
                        <a:ea typeface="OPPOSans R" charset="-122"/>
                        <a:cs typeface="OPPOSans R" charset="-122"/>
                      </a:endParaRPr>
                    </a:p>
                    <a:p>
                      <a:pPr algn="l"/>
                      <a:r>
                        <a:rPr lang="en-US" altLang="zh-CN" sz="1400" b="0" dirty="0">
                          <a:latin typeface="OPPOSans R" charset="-122"/>
                          <a:ea typeface="OPPOSans R" charset="-122"/>
                          <a:cs typeface="OPPOSans R" charset="-122"/>
                        </a:rPr>
                        <a:t>White</a:t>
                      </a:r>
                      <a:endParaRPr lang="zh-CN" altLang="en-US" sz="1400" b="0" dirty="0">
                        <a:latin typeface="OPPOSans R" charset="-122"/>
                        <a:ea typeface="OPPOSans R" charset="-122"/>
                        <a:cs typeface="OPPOSans R" charset="-122"/>
                      </a:endParaRPr>
                    </a:p>
                  </a:txBody>
                  <a:tcPr marL="45720" marR="45720" marT="22860" marB="228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55447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6DBF33-5894-47F5-B9BC-DF3EDA43E96D}" type="datetimeFigureOut">
              <a:rPr lang="en-US" smtClean="0"/>
              <a:t>05-Oct-26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100D35-3F1F-4131-AECA-F9146553ABCE}" type="slidenum">
              <a:rPr lang="en-US" smtClean="0"/>
              <a:t>‹#›</a:t>
            </a:fld>
            <a:endParaRPr lang="en-US" dirty="0"/>
          </a:p>
        </p:txBody>
      </p:sp>
    </p:spTree>
    <p:extLst>
      <p:ext uri="{BB962C8B-B14F-4D97-AF65-F5344CB8AC3E}">
        <p14:creationId xmlns:p14="http://schemas.microsoft.com/office/powerpoint/2010/main" val="3084661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13265" y="2882220"/>
            <a:ext cx="11420888" cy="536842"/>
          </a:xfrm>
        </p:spPr>
        <p:txBody>
          <a:bodyPr>
            <a:noAutofit/>
          </a:bodyPr>
          <a:lstStyle/>
          <a:p>
            <a:pPr algn="ctr"/>
            <a:r>
              <a:rPr kumimoji="1" lang="vi-VN" altLang="zh-CN" sz="5750" dirty="0">
                <a:solidFill>
                  <a:schemeClr val="bg1"/>
                </a:solidFill>
                <a:latin typeface="Segoe UI Symbol" panose="020B0502040204020203" pitchFamily="34" charset="0"/>
                <a:ea typeface="Segoe UI Symbol" panose="020B0502040204020203" pitchFamily="34" charset="0"/>
                <a:cs typeface="Microsoft YaHei" charset="-122"/>
              </a:rPr>
              <a:t>Tháng 10 </a:t>
            </a:r>
            <a:r>
              <a:rPr kumimoji="1" lang="en-US" altLang="zh-CN" sz="5750" dirty="0">
                <a:solidFill>
                  <a:schemeClr val="bg1"/>
                </a:solidFill>
                <a:latin typeface="Segoe UI Symbol" panose="020B0502040204020203" pitchFamily="34" charset="0"/>
                <a:ea typeface="Segoe UI Symbol" panose="020B0502040204020203" pitchFamily="34" charset="0"/>
                <a:cs typeface="Microsoft YaHei" charset="-122"/>
              </a:rPr>
              <a:t>| Sales Plan</a:t>
            </a:r>
            <a:br>
              <a:rPr kumimoji="1" lang="vi-VN" altLang="zh-CN" sz="5750" dirty="0">
                <a:solidFill>
                  <a:schemeClr val="bg1"/>
                </a:solidFill>
                <a:latin typeface="Segoe UI Symbol" panose="020B0502040204020203" pitchFamily="34" charset="0"/>
                <a:ea typeface="Segoe UI Symbol" panose="020B0502040204020203" pitchFamily="34" charset="0"/>
                <a:cs typeface="Microsoft YaHei" charset="-122"/>
              </a:rPr>
            </a:br>
            <a:endParaRPr kumimoji="1" lang="zh-CN" altLang="en-US" sz="3600" dirty="0">
              <a:solidFill>
                <a:schemeClr val="bg1"/>
              </a:solidFill>
              <a:latin typeface="Segoe UI Symbol" panose="020B0502040204020203" pitchFamily="34" charset="0"/>
              <a:ea typeface="Microsoft YaHei" charset="-122"/>
              <a:cs typeface="Microsoft YaHei" charset="-122"/>
            </a:endParaRPr>
          </a:p>
        </p:txBody>
      </p:sp>
      <p:sp>
        <p:nvSpPr>
          <p:cNvPr id="3" name="标题 4">
            <a:extLst>
              <a:ext uri="{FF2B5EF4-FFF2-40B4-BE49-F238E27FC236}">
                <a16:creationId xmlns:a16="http://schemas.microsoft.com/office/drawing/2014/main" id="{90BF252C-2404-8941-9B4B-2C8436DFB0D0}"/>
              </a:ext>
            </a:extLst>
          </p:cNvPr>
          <p:cNvSpPr txBox="1">
            <a:spLocks/>
          </p:cNvSpPr>
          <p:nvPr/>
        </p:nvSpPr>
        <p:spPr>
          <a:xfrm>
            <a:off x="3317081" y="2882220"/>
            <a:ext cx="4495075" cy="844954"/>
          </a:xfrm>
          <a:prstGeom prst="rect">
            <a:avLst/>
          </a:prstGeom>
        </p:spPr>
        <p:txBody>
          <a:bodyPr vert="horz" lIns="45720" tIns="22860" rIns="45720" bIns="22860" rtlCol="0" anchor="ctr">
            <a:noAutofit/>
          </a:bodyPr>
          <a:lstStyle>
            <a:lvl1pPr marL="0" marR="0" indent="0" algn="l" defTabSz="825500" latinLnBrk="0">
              <a:lnSpc>
                <a:spcPct val="100000"/>
              </a:lnSpc>
              <a:spcBef>
                <a:spcPts val="0"/>
              </a:spcBef>
              <a:spcAft>
                <a:spcPts val="0"/>
              </a:spcAft>
              <a:buClrTx/>
              <a:buSzTx/>
              <a:buFontTx/>
              <a:buNone/>
              <a:tabLst/>
              <a:defRPr sz="5000" b="0" i="0" u="none" strike="noStrike" cap="none" spc="0" baseline="0">
                <a:ln>
                  <a:noFill/>
                </a:ln>
                <a:solidFill>
                  <a:srgbClr val="2DC84D"/>
                </a:solidFill>
                <a:uFillTx/>
                <a:latin typeface="OPPOSans B" charset="-122"/>
                <a:ea typeface="OPPOSans B" charset="-122"/>
                <a:cs typeface="OPPOSans B" charset="-122"/>
                <a:sym typeface="OPPOSans B"/>
              </a:defRPr>
            </a:lvl1pPr>
            <a:lvl2pPr marL="0" marR="0" indent="0" algn="l" defTabSz="825500" latinLnBrk="0">
              <a:lnSpc>
                <a:spcPct val="100000"/>
              </a:lnSpc>
              <a:spcBef>
                <a:spcPts val="0"/>
              </a:spcBef>
              <a:spcAft>
                <a:spcPts val="0"/>
              </a:spcAft>
              <a:buClrTx/>
              <a:buSzTx/>
              <a:buFontTx/>
              <a:buNone/>
              <a:tabLst/>
              <a:defRPr sz="9000" b="0" i="0" u="none" strike="noStrike" cap="none" spc="0" baseline="0">
                <a:ln>
                  <a:noFill/>
                </a:ln>
                <a:solidFill>
                  <a:srgbClr val="046A38"/>
                </a:solidFill>
                <a:uFillTx/>
                <a:latin typeface="OPPOSans B"/>
                <a:ea typeface="OPPOSans B"/>
                <a:cs typeface="OPPOSans B"/>
                <a:sym typeface="OPPOSans B"/>
              </a:defRPr>
            </a:lvl2pPr>
            <a:lvl3pPr marL="0" marR="0" indent="0" algn="l" defTabSz="825500" latinLnBrk="0">
              <a:lnSpc>
                <a:spcPct val="100000"/>
              </a:lnSpc>
              <a:spcBef>
                <a:spcPts val="0"/>
              </a:spcBef>
              <a:spcAft>
                <a:spcPts val="0"/>
              </a:spcAft>
              <a:buClrTx/>
              <a:buSzTx/>
              <a:buFontTx/>
              <a:buNone/>
              <a:tabLst/>
              <a:defRPr sz="9000" b="0" i="0" u="none" strike="noStrike" cap="none" spc="0" baseline="0">
                <a:ln>
                  <a:noFill/>
                </a:ln>
                <a:solidFill>
                  <a:srgbClr val="046A38"/>
                </a:solidFill>
                <a:uFillTx/>
                <a:latin typeface="OPPOSans B"/>
                <a:ea typeface="OPPOSans B"/>
                <a:cs typeface="OPPOSans B"/>
                <a:sym typeface="OPPOSans B"/>
              </a:defRPr>
            </a:lvl3pPr>
            <a:lvl4pPr marL="0" marR="0" indent="0" algn="l" defTabSz="825500" latinLnBrk="0">
              <a:lnSpc>
                <a:spcPct val="100000"/>
              </a:lnSpc>
              <a:spcBef>
                <a:spcPts val="0"/>
              </a:spcBef>
              <a:spcAft>
                <a:spcPts val="0"/>
              </a:spcAft>
              <a:buClrTx/>
              <a:buSzTx/>
              <a:buFontTx/>
              <a:buNone/>
              <a:tabLst/>
              <a:defRPr sz="9000" b="0" i="0" u="none" strike="noStrike" cap="none" spc="0" baseline="0">
                <a:ln>
                  <a:noFill/>
                </a:ln>
                <a:solidFill>
                  <a:srgbClr val="046A38"/>
                </a:solidFill>
                <a:uFillTx/>
                <a:latin typeface="OPPOSans B"/>
                <a:ea typeface="OPPOSans B"/>
                <a:cs typeface="OPPOSans B"/>
                <a:sym typeface="OPPOSans B"/>
              </a:defRPr>
            </a:lvl4pPr>
            <a:lvl5pPr marL="0" marR="0" indent="0" algn="l" defTabSz="825500" latinLnBrk="0">
              <a:lnSpc>
                <a:spcPct val="100000"/>
              </a:lnSpc>
              <a:spcBef>
                <a:spcPts val="0"/>
              </a:spcBef>
              <a:spcAft>
                <a:spcPts val="0"/>
              </a:spcAft>
              <a:buClrTx/>
              <a:buSzTx/>
              <a:buFontTx/>
              <a:buNone/>
              <a:tabLst/>
              <a:defRPr sz="9000" b="0" i="0" u="none" strike="noStrike" cap="none" spc="0" baseline="0">
                <a:ln>
                  <a:noFill/>
                </a:ln>
                <a:solidFill>
                  <a:srgbClr val="046A38"/>
                </a:solidFill>
                <a:uFillTx/>
                <a:latin typeface="OPPOSans B"/>
                <a:ea typeface="OPPOSans B"/>
                <a:cs typeface="OPPOSans B"/>
                <a:sym typeface="OPPOSans B"/>
              </a:defRPr>
            </a:lvl5pPr>
            <a:lvl6pPr marL="0" marR="0" indent="0" algn="l" defTabSz="825500" latinLnBrk="0">
              <a:lnSpc>
                <a:spcPct val="100000"/>
              </a:lnSpc>
              <a:spcBef>
                <a:spcPts val="0"/>
              </a:spcBef>
              <a:spcAft>
                <a:spcPts val="0"/>
              </a:spcAft>
              <a:buClrTx/>
              <a:buSzTx/>
              <a:buFontTx/>
              <a:buNone/>
              <a:tabLst/>
              <a:defRPr sz="9000" b="0" i="0" u="none" strike="noStrike" cap="none" spc="0" baseline="0">
                <a:ln>
                  <a:noFill/>
                </a:ln>
                <a:solidFill>
                  <a:srgbClr val="046A38"/>
                </a:solidFill>
                <a:uFillTx/>
                <a:latin typeface="OPPOSans B"/>
                <a:ea typeface="OPPOSans B"/>
                <a:cs typeface="OPPOSans B"/>
                <a:sym typeface="OPPOSans B"/>
              </a:defRPr>
            </a:lvl6pPr>
            <a:lvl7pPr marL="0" marR="0" indent="0" algn="l" defTabSz="825500" latinLnBrk="0">
              <a:lnSpc>
                <a:spcPct val="100000"/>
              </a:lnSpc>
              <a:spcBef>
                <a:spcPts val="0"/>
              </a:spcBef>
              <a:spcAft>
                <a:spcPts val="0"/>
              </a:spcAft>
              <a:buClrTx/>
              <a:buSzTx/>
              <a:buFontTx/>
              <a:buNone/>
              <a:tabLst/>
              <a:defRPr sz="9000" b="0" i="0" u="none" strike="noStrike" cap="none" spc="0" baseline="0">
                <a:ln>
                  <a:noFill/>
                </a:ln>
                <a:solidFill>
                  <a:srgbClr val="046A38"/>
                </a:solidFill>
                <a:uFillTx/>
                <a:latin typeface="OPPOSans B"/>
                <a:ea typeface="OPPOSans B"/>
                <a:cs typeface="OPPOSans B"/>
                <a:sym typeface="OPPOSans B"/>
              </a:defRPr>
            </a:lvl7pPr>
            <a:lvl8pPr marL="0" marR="0" indent="0" algn="l" defTabSz="825500" latinLnBrk="0">
              <a:lnSpc>
                <a:spcPct val="100000"/>
              </a:lnSpc>
              <a:spcBef>
                <a:spcPts val="0"/>
              </a:spcBef>
              <a:spcAft>
                <a:spcPts val="0"/>
              </a:spcAft>
              <a:buClrTx/>
              <a:buSzTx/>
              <a:buFontTx/>
              <a:buNone/>
              <a:tabLst/>
              <a:defRPr sz="9000" b="0" i="0" u="none" strike="noStrike" cap="none" spc="0" baseline="0">
                <a:ln>
                  <a:noFill/>
                </a:ln>
                <a:solidFill>
                  <a:srgbClr val="046A38"/>
                </a:solidFill>
                <a:uFillTx/>
                <a:latin typeface="OPPOSans B"/>
                <a:ea typeface="OPPOSans B"/>
                <a:cs typeface="OPPOSans B"/>
                <a:sym typeface="OPPOSans B"/>
              </a:defRPr>
            </a:lvl8pPr>
            <a:lvl9pPr marL="0" marR="0" indent="0" algn="l" defTabSz="825500" latinLnBrk="0">
              <a:lnSpc>
                <a:spcPct val="100000"/>
              </a:lnSpc>
              <a:spcBef>
                <a:spcPts val="0"/>
              </a:spcBef>
              <a:spcAft>
                <a:spcPts val="0"/>
              </a:spcAft>
              <a:buClrTx/>
              <a:buSzTx/>
              <a:buFontTx/>
              <a:buNone/>
              <a:tabLst/>
              <a:defRPr sz="9000" b="0" i="0" u="none" strike="noStrike" cap="none" spc="0" baseline="0">
                <a:ln>
                  <a:noFill/>
                </a:ln>
                <a:solidFill>
                  <a:srgbClr val="046A38"/>
                </a:solidFill>
                <a:uFillTx/>
                <a:latin typeface="OPPOSans B"/>
                <a:ea typeface="OPPOSans B"/>
                <a:cs typeface="OPPOSans B"/>
                <a:sym typeface="OPPOSans B"/>
              </a:defRPr>
            </a:lvl9pPr>
          </a:lstStyle>
          <a:p>
            <a:pPr algn="ctr" hangingPunct="1"/>
            <a:endParaRPr kumimoji="1" lang="zh-CN" altLang="en-US" sz="1000" dirty="0">
              <a:solidFill>
                <a:schemeClr val="bg1"/>
              </a:solidFill>
              <a:latin typeface="Segoe UI Symbol" panose="020B0502040204020203" pitchFamily="34" charset="0"/>
              <a:ea typeface="Microsoft YaHei" charset="-122"/>
              <a:cs typeface="Microsoft YaHei" charset="-122"/>
            </a:endParaRPr>
          </a:p>
        </p:txBody>
      </p:sp>
      <p:sp>
        <p:nvSpPr>
          <p:cNvPr id="4" name="标题 4"/>
          <p:cNvSpPr txBox="1">
            <a:spLocks/>
          </p:cNvSpPr>
          <p:nvPr/>
        </p:nvSpPr>
        <p:spPr>
          <a:xfrm>
            <a:off x="9497229" y="5841641"/>
            <a:ext cx="4366553" cy="55915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rgbClr val="2DC84D"/>
                </a:solidFill>
                <a:latin typeface="+mj-lt"/>
                <a:ea typeface="+mj-ea"/>
                <a:cs typeface="+mj-cs"/>
              </a:defRPr>
            </a:lvl1pPr>
          </a:lstStyle>
          <a:p>
            <a:r>
              <a:rPr kumimoji="1" lang="vi-VN" altLang="zh-CN" sz="1800" dirty="0">
                <a:solidFill>
                  <a:schemeClr val="bg1"/>
                </a:solidFill>
                <a:latin typeface="Segoe UI Symbol" panose="020B0502040204020203" pitchFamily="34" charset="0"/>
                <a:ea typeface="Segoe UI Symbol" panose="020B0502040204020203" pitchFamily="34" charset="0"/>
                <a:cs typeface="Microsoft YaHei" charset="-122"/>
              </a:rPr>
              <a:t>Huỳnh Phúc Khang</a:t>
            </a:r>
          </a:p>
          <a:p>
            <a:r>
              <a:rPr kumimoji="1" lang="vi-VN" altLang="zh-CN" sz="1800" dirty="0">
                <a:solidFill>
                  <a:schemeClr val="bg1"/>
                </a:solidFill>
                <a:latin typeface="Segoe UI Symbol" panose="020B0502040204020203" pitchFamily="34" charset="0"/>
                <a:ea typeface="Segoe UI Symbol" panose="020B0502040204020203" pitchFamily="34" charset="0"/>
                <a:cs typeface="Microsoft YaHei" charset="-122"/>
              </a:rPr>
              <a:t>Sale team CM4</a:t>
            </a:r>
          </a:p>
        </p:txBody>
      </p:sp>
    </p:spTree>
    <p:extLst>
      <p:ext uri="{BB962C8B-B14F-4D97-AF65-F5344CB8AC3E}">
        <p14:creationId xmlns:p14="http://schemas.microsoft.com/office/powerpoint/2010/main" val="3903713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
          </p:nvPr>
        </p:nvSpPr>
        <p:spPr/>
        <p:txBody>
          <a:bodyPr/>
          <a:lstStyle/>
          <a:p>
            <a:endParaRPr lang="en-US" dirty="0"/>
          </a:p>
        </p:txBody>
      </p:sp>
      <p:sp>
        <p:nvSpPr>
          <p:cNvPr id="4" name="文本框 8">
            <a:extLst>
              <a:ext uri="{FF2B5EF4-FFF2-40B4-BE49-F238E27FC236}">
                <a16:creationId xmlns:a16="http://schemas.microsoft.com/office/drawing/2014/main" id="{92B2F424-9B61-A344-993E-14F9C418CAA7}"/>
              </a:ext>
            </a:extLst>
          </p:cNvPr>
          <p:cNvSpPr txBox="1"/>
          <p:nvPr/>
        </p:nvSpPr>
        <p:spPr>
          <a:xfrm>
            <a:off x="272012" y="206863"/>
            <a:ext cx="4133733" cy="461665"/>
          </a:xfrm>
          <a:prstGeom prst="rect">
            <a:avLst/>
          </a:prstGeom>
          <a:noFill/>
        </p:spPr>
        <p:txBody>
          <a:bodyPr wrap="square" rtlCol="0">
            <a:spAutoFit/>
          </a:bodyPr>
          <a:lstStyle/>
          <a:p>
            <a:r>
              <a:rPr lang="vi-VN" altLang="zh-CN" sz="2400" b="1">
                <a:solidFill>
                  <a:srgbClr val="00925F"/>
                </a:solidFill>
                <a:ea typeface="微软雅黑" panose="020B0503020204020204" pitchFamily="34" charset="-122"/>
                <a:cs typeface="Arial" pitchFamily="34" charset="0"/>
              </a:rPr>
              <a:t>TỔNG QUAN THỊ TRƯỜNG</a:t>
            </a:r>
            <a:endParaRPr lang="vi-VN" altLang="zh-CN" sz="2400" b="1" dirty="0">
              <a:solidFill>
                <a:srgbClr val="00925F"/>
              </a:solidFill>
              <a:ea typeface="微软雅黑" panose="020B0503020204020204" pitchFamily="34" charset="-122"/>
              <a:cs typeface="Arial" pitchFamily="34" charset="0"/>
            </a:endParaRPr>
          </a:p>
        </p:txBody>
      </p:sp>
    </p:spTree>
    <p:extLst>
      <p:ext uri="{BB962C8B-B14F-4D97-AF65-F5344CB8AC3E}">
        <p14:creationId xmlns:p14="http://schemas.microsoft.com/office/powerpoint/2010/main" val="409638839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Bản đồ quy hoạch Huyện Kế Sách, Sóc Trăng| Kế hoạch sử dụng đấ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5509" y="916377"/>
            <a:ext cx="5001822" cy="43298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3469218818"/>
              </p:ext>
            </p:extLst>
          </p:nvPr>
        </p:nvGraphicFramePr>
        <p:xfrm>
          <a:off x="8019112" y="982767"/>
          <a:ext cx="1146537" cy="714794"/>
        </p:xfrm>
        <a:graphic>
          <a:graphicData uri="http://schemas.openxmlformats.org/drawingml/2006/table">
            <a:tbl>
              <a:tblPr firstRow="1" bandRow="1">
                <a:tableStyleId>{5C22544A-7EE6-4342-B048-85BDC9FD1C3A}</a:tableStyleId>
              </a:tblPr>
              <a:tblGrid>
                <a:gridCol w="1146537">
                  <a:extLst>
                    <a:ext uri="{9D8B030D-6E8A-4147-A177-3AD203B41FA5}">
                      <a16:colId xmlns:a16="http://schemas.microsoft.com/office/drawing/2014/main" val="4150757395"/>
                    </a:ext>
                  </a:extLst>
                </a:gridCol>
              </a:tblGrid>
              <a:tr h="714794">
                <a:tc>
                  <a:txBody>
                    <a:bodyPr/>
                    <a:lstStyle/>
                    <a:p>
                      <a:pPr algn="just"/>
                      <a:r>
                        <a:rPr lang="vi-VN" sz="900" dirty="0">
                          <a:solidFill>
                            <a:schemeClr val="tx1"/>
                          </a:solidFill>
                        </a:rPr>
                        <a:t>Nhựt Trường</a:t>
                      </a:r>
                    </a:p>
                    <a:p>
                      <a:pPr algn="just"/>
                      <a:r>
                        <a:rPr lang="vi-VN" sz="900" dirty="0">
                          <a:solidFill>
                            <a:schemeClr val="tx1"/>
                          </a:solidFill>
                        </a:rPr>
                        <a:t>Phương Tùng</a:t>
                      </a:r>
                    </a:p>
                    <a:p>
                      <a:pPr algn="just"/>
                      <a:r>
                        <a:rPr lang="vi-VN" sz="900" dirty="0">
                          <a:solidFill>
                            <a:schemeClr val="tx1"/>
                          </a:solidFill>
                        </a:rPr>
                        <a:t>Văn Vũ</a:t>
                      </a:r>
                    </a:p>
                    <a:p>
                      <a:pPr algn="just"/>
                      <a:r>
                        <a:rPr lang="vi-VN" sz="900" dirty="0">
                          <a:solidFill>
                            <a:schemeClr val="tx1"/>
                          </a:solidFill>
                        </a:rPr>
                        <a:t>Thanh Thiện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sp>
        <p:nvSpPr>
          <p:cNvPr id="4" name="文本框 8">
            <a:extLst>
              <a:ext uri="{FF2B5EF4-FFF2-40B4-BE49-F238E27FC236}">
                <a16:creationId xmlns:a16="http://schemas.microsoft.com/office/drawing/2014/main" id="{92B2F424-9B61-A344-993E-14F9C418CAA7}"/>
              </a:ext>
            </a:extLst>
          </p:cNvPr>
          <p:cNvSpPr txBox="1"/>
          <p:nvPr/>
        </p:nvSpPr>
        <p:spPr>
          <a:xfrm>
            <a:off x="216594" y="114500"/>
            <a:ext cx="2958129" cy="461665"/>
          </a:xfrm>
          <a:prstGeom prst="rect">
            <a:avLst/>
          </a:prstGeom>
          <a:noFill/>
        </p:spPr>
        <p:txBody>
          <a:bodyPr wrap="square" rtlCol="0">
            <a:spAutoFit/>
          </a:bodyPr>
          <a:lstStyle/>
          <a:p>
            <a:r>
              <a:rPr lang="vi-VN" altLang="zh-CN" sz="2400" b="1" dirty="0">
                <a:solidFill>
                  <a:srgbClr val="00925F"/>
                </a:solidFill>
                <a:ea typeface="微软雅黑" panose="020B0503020204020204" pitchFamily="34" charset="-122"/>
                <a:cs typeface="Arial" pitchFamily="34" charset="0"/>
              </a:rPr>
              <a:t>HUYỆN KẾ SÁCH</a:t>
            </a:r>
          </a:p>
        </p:txBody>
      </p:sp>
      <p:sp>
        <p:nvSpPr>
          <p:cNvPr id="5" name="椭圆 9"/>
          <p:cNvSpPr/>
          <p:nvPr/>
        </p:nvSpPr>
        <p:spPr>
          <a:xfrm>
            <a:off x="7754716" y="1250420"/>
            <a:ext cx="180245" cy="18146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dirty="0"/>
          </a:p>
          <a:p>
            <a:pPr algn="ctr"/>
            <a:endParaRPr kumimoji="1" lang="zh-CN" altLang="en-US" dirty="0"/>
          </a:p>
        </p:txBody>
      </p:sp>
      <p:sp>
        <p:nvSpPr>
          <p:cNvPr id="6" name="椭圆 9"/>
          <p:cNvSpPr/>
          <p:nvPr/>
        </p:nvSpPr>
        <p:spPr>
          <a:xfrm>
            <a:off x="8787751" y="2817089"/>
            <a:ext cx="168509" cy="1625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dirty="0"/>
          </a:p>
          <a:p>
            <a:pPr algn="ctr"/>
            <a:endParaRPr kumimoji="1" lang="zh-CN" altLang="en-US" dirty="0"/>
          </a:p>
        </p:txBody>
      </p:sp>
      <p:sp>
        <p:nvSpPr>
          <p:cNvPr id="8" name="椭圆 9"/>
          <p:cNvSpPr/>
          <p:nvPr/>
        </p:nvSpPr>
        <p:spPr>
          <a:xfrm>
            <a:off x="9518531" y="3862049"/>
            <a:ext cx="180245" cy="18146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dirty="0"/>
          </a:p>
          <a:p>
            <a:pPr algn="ctr"/>
            <a:endParaRPr kumimoji="1" lang="zh-CN" altLang="en-US" dirty="0"/>
          </a:p>
        </p:txBody>
      </p:sp>
      <p:graphicFrame>
        <p:nvGraphicFramePr>
          <p:cNvPr id="9" name="Table 8"/>
          <p:cNvGraphicFramePr>
            <a:graphicFrameLocks noGrp="1"/>
          </p:cNvGraphicFramePr>
          <p:nvPr>
            <p:extLst>
              <p:ext uri="{D42A27DB-BD31-4B8C-83A1-F6EECF244321}">
                <p14:modId xmlns:p14="http://schemas.microsoft.com/office/powerpoint/2010/main" val="1630120113"/>
              </p:ext>
            </p:extLst>
          </p:nvPr>
        </p:nvGraphicFramePr>
        <p:xfrm>
          <a:off x="9000874" y="2540942"/>
          <a:ext cx="1035313" cy="714794"/>
        </p:xfrm>
        <a:graphic>
          <a:graphicData uri="http://schemas.openxmlformats.org/drawingml/2006/table">
            <a:tbl>
              <a:tblPr firstRow="1" bandRow="1">
                <a:tableStyleId>{5C22544A-7EE6-4342-B048-85BDC9FD1C3A}</a:tableStyleId>
              </a:tblPr>
              <a:tblGrid>
                <a:gridCol w="1035313">
                  <a:extLst>
                    <a:ext uri="{9D8B030D-6E8A-4147-A177-3AD203B41FA5}">
                      <a16:colId xmlns:a16="http://schemas.microsoft.com/office/drawing/2014/main" val="4150757395"/>
                    </a:ext>
                  </a:extLst>
                </a:gridCol>
              </a:tblGrid>
              <a:tr h="714794">
                <a:tc>
                  <a:txBody>
                    <a:bodyPr/>
                    <a:lstStyle/>
                    <a:p>
                      <a:pPr algn="just"/>
                      <a:r>
                        <a:rPr lang="vi-VN" sz="900" dirty="0">
                          <a:solidFill>
                            <a:schemeClr val="tx1"/>
                          </a:solidFill>
                        </a:rPr>
                        <a:t>Tơ Tạo</a:t>
                      </a:r>
                    </a:p>
                    <a:p>
                      <a:pPr algn="just"/>
                      <a:r>
                        <a:rPr lang="vi-VN" sz="900" dirty="0">
                          <a:solidFill>
                            <a:schemeClr val="tx1"/>
                          </a:solidFill>
                        </a:rPr>
                        <a:t>Mỹ</a:t>
                      </a:r>
                      <a:r>
                        <a:rPr lang="vi-VN" sz="900" baseline="0" dirty="0">
                          <a:solidFill>
                            <a:schemeClr val="tx1"/>
                          </a:solidFill>
                        </a:rPr>
                        <a:t> Thương</a:t>
                      </a:r>
                    </a:p>
                    <a:p>
                      <a:pPr algn="just"/>
                      <a:r>
                        <a:rPr lang="vi-VN" sz="900" dirty="0">
                          <a:solidFill>
                            <a:schemeClr val="tx1"/>
                          </a:solidFill>
                        </a:rPr>
                        <a:t>Quang Minh</a:t>
                      </a:r>
                    </a:p>
                    <a:p>
                      <a:pPr algn="just"/>
                      <a:r>
                        <a:rPr lang="vi-VN" sz="900" dirty="0">
                          <a:solidFill>
                            <a:schemeClr val="tx1"/>
                          </a:solidFill>
                        </a:rPr>
                        <a:t>Thế Vinh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693916395"/>
              </p:ext>
            </p:extLst>
          </p:nvPr>
        </p:nvGraphicFramePr>
        <p:xfrm>
          <a:off x="10003540" y="3834570"/>
          <a:ext cx="1035313" cy="599364"/>
        </p:xfrm>
        <a:graphic>
          <a:graphicData uri="http://schemas.openxmlformats.org/drawingml/2006/table">
            <a:tbl>
              <a:tblPr firstRow="1" bandRow="1">
                <a:tableStyleId>{5C22544A-7EE6-4342-B048-85BDC9FD1C3A}</a:tableStyleId>
              </a:tblPr>
              <a:tblGrid>
                <a:gridCol w="1035313">
                  <a:extLst>
                    <a:ext uri="{9D8B030D-6E8A-4147-A177-3AD203B41FA5}">
                      <a16:colId xmlns:a16="http://schemas.microsoft.com/office/drawing/2014/main" val="4150757395"/>
                    </a:ext>
                  </a:extLst>
                </a:gridCol>
              </a:tblGrid>
              <a:tr h="599364">
                <a:tc>
                  <a:txBody>
                    <a:bodyPr/>
                    <a:lstStyle/>
                    <a:p>
                      <a:pPr algn="just"/>
                      <a:r>
                        <a:rPr lang="vi-VN" sz="900" dirty="0">
                          <a:solidFill>
                            <a:schemeClr val="tx1"/>
                          </a:solidFill>
                        </a:rPr>
                        <a:t>Minh Phương</a:t>
                      </a:r>
                    </a:p>
                    <a:p>
                      <a:pPr algn="just"/>
                      <a:r>
                        <a:rPr lang="vi-VN" sz="900" dirty="0">
                          <a:solidFill>
                            <a:schemeClr val="tx1"/>
                          </a:solidFill>
                        </a:rPr>
                        <a:t>Quốc Khánh</a:t>
                      </a:r>
                    </a:p>
                    <a:p>
                      <a:pPr algn="just"/>
                      <a:r>
                        <a:rPr lang="vi-VN" sz="900" dirty="0">
                          <a:solidFill>
                            <a:schemeClr val="tx1"/>
                          </a:solidFill>
                        </a:rPr>
                        <a:t>Ngọc Chuyện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graphicFrame>
        <p:nvGraphicFramePr>
          <p:cNvPr id="13" name="Chart 12"/>
          <p:cNvGraphicFramePr/>
          <p:nvPr>
            <p:extLst>
              <p:ext uri="{D42A27DB-BD31-4B8C-83A1-F6EECF244321}">
                <p14:modId xmlns:p14="http://schemas.microsoft.com/office/powerpoint/2010/main" val="727090816"/>
              </p:ext>
            </p:extLst>
          </p:nvPr>
        </p:nvGraphicFramePr>
        <p:xfrm>
          <a:off x="481570" y="675887"/>
          <a:ext cx="5632419" cy="214120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03644307"/>
              </p:ext>
            </p:extLst>
          </p:nvPr>
        </p:nvGraphicFramePr>
        <p:xfrm>
          <a:off x="7387021" y="5490226"/>
          <a:ext cx="3258797" cy="357397"/>
        </p:xfrm>
        <a:graphic>
          <a:graphicData uri="http://schemas.openxmlformats.org/drawingml/2006/table">
            <a:tbl>
              <a:tblPr firstRow="1" bandRow="1">
                <a:tableStyleId>{5C22544A-7EE6-4342-B048-85BDC9FD1C3A}</a:tableStyleId>
              </a:tblPr>
              <a:tblGrid>
                <a:gridCol w="3258797">
                  <a:extLst>
                    <a:ext uri="{9D8B030D-6E8A-4147-A177-3AD203B41FA5}">
                      <a16:colId xmlns:a16="http://schemas.microsoft.com/office/drawing/2014/main" val="4150757395"/>
                    </a:ext>
                  </a:extLst>
                </a:gridCol>
              </a:tblGrid>
              <a:tr h="357397">
                <a:tc>
                  <a:txBody>
                    <a:bodyPr/>
                    <a:lstStyle/>
                    <a:p>
                      <a:pPr algn="just"/>
                      <a:r>
                        <a:rPr lang="vi-VN" sz="1500" dirty="0">
                          <a:solidFill>
                            <a:schemeClr val="tx1"/>
                          </a:solidFill>
                        </a:rPr>
                        <a:t>Bản đồ, vị trí shop huyện Kế Sách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220866193"/>
              </p:ext>
            </p:extLst>
          </p:nvPr>
        </p:nvGraphicFramePr>
        <p:xfrm>
          <a:off x="440126" y="2898339"/>
          <a:ext cx="5202879" cy="3572320"/>
        </p:xfrm>
        <a:graphic>
          <a:graphicData uri="http://schemas.openxmlformats.org/drawingml/2006/table">
            <a:tbl>
              <a:tblPr firstRow="1" bandRow="1">
                <a:tableStyleId>{5C22544A-7EE6-4342-B048-85BDC9FD1C3A}</a:tableStyleId>
              </a:tblPr>
              <a:tblGrid>
                <a:gridCol w="5202879">
                  <a:extLst>
                    <a:ext uri="{9D8B030D-6E8A-4147-A177-3AD203B41FA5}">
                      <a16:colId xmlns:a16="http://schemas.microsoft.com/office/drawing/2014/main" val="4150757395"/>
                    </a:ext>
                  </a:extLst>
                </a:gridCol>
              </a:tblGrid>
              <a:tr h="2868407">
                <a:tc>
                  <a:txBody>
                    <a:bodyPr/>
                    <a:lstStyle/>
                    <a:p>
                      <a:pPr algn="just">
                        <a:lnSpc>
                          <a:spcPct val="150000"/>
                        </a:lnSpc>
                      </a:pPr>
                      <a:r>
                        <a:rPr lang="vi-VN" sz="1400" dirty="0">
                          <a:solidFill>
                            <a:schemeClr val="tx1"/>
                          </a:solidFill>
                        </a:rPr>
                        <a:t>Nhận định:</a:t>
                      </a:r>
                    </a:p>
                    <a:p>
                      <a:pPr algn="just">
                        <a:lnSpc>
                          <a:spcPct val="150000"/>
                        </a:lnSpc>
                      </a:pPr>
                      <a:r>
                        <a:rPr lang="vi-VN" sz="1400" dirty="0">
                          <a:solidFill>
                            <a:schemeClr val="tx1"/>
                          </a:solidFill>
                        </a:rPr>
                        <a:t>Huyện Kế Sách là huyện chiếm trọng số</a:t>
                      </a:r>
                    </a:p>
                    <a:p>
                      <a:pPr algn="just">
                        <a:lnSpc>
                          <a:spcPct val="150000"/>
                        </a:lnSpc>
                      </a:pPr>
                      <a:r>
                        <a:rPr lang="vi-VN" sz="1400" dirty="0">
                          <a:solidFill>
                            <a:schemeClr val="tx1"/>
                          </a:solidFill>
                        </a:rPr>
                        <a:t>Có 4 nhà DC</a:t>
                      </a:r>
                      <a:r>
                        <a:rPr lang="vi-VN" sz="1400" baseline="0" dirty="0">
                          <a:solidFill>
                            <a:schemeClr val="tx1"/>
                          </a:solidFill>
                        </a:rPr>
                        <a:t> – tiềm năng khai thác số rất lớn</a:t>
                      </a:r>
                      <a:r>
                        <a:rPr lang="en-US" sz="1400" baseline="0" dirty="0">
                          <a:solidFill>
                            <a:schemeClr val="tx1"/>
                          </a:solidFill>
                        </a:rPr>
                        <a:t>.</a:t>
                      </a:r>
                      <a:endParaRPr lang="vi-VN" sz="1400" baseline="0" dirty="0">
                        <a:solidFill>
                          <a:schemeClr val="tx1"/>
                        </a:solidFill>
                      </a:endParaRPr>
                    </a:p>
                    <a:p>
                      <a:pPr algn="just">
                        <a:lnSpc>
                          <a:spcPct val="150000"/>
                        </a:lnSpc>
                      </a:pPr>
                      <a:r>
                        <a:rPr lang="vi-VN" sz="1400" baseline="0" dirty="0">
                          <a:solidFill>
                            <a:schemeClr val="tx1"/>
                          </a:solidFill>
                        </a:rPr>
                        <a:t>Hiện tại thêm được đại lý Thế Vinh chạy DC HUB</a:t>
                      </a:r>
                      <a:endParaRPr lang="en-US" sz="1400" baseline="0" dirty="0">
                        <a:solidFill>
                          <a:schemeClr val="tx1"/>
                        </a:solidFill>
                      </a:endParaRPr>
                    </a:p>
                    <a:p>
                      <a:pPr algn="just">
                        <a:lnSpc>
                          <a:spcPct val="150000"/>
                        </a:lnSpc>
                      </a:pPr>
                      <a:r>
                        <a:rPr lang="vi-VN" sz="1400" baseline="0" dirty="0">
                          <a:solidFill>
                            <a:schemeClr val="tx1"/>
                          </a:solidFill>
                        </a:rPr>
                        <a:t>Các nhà normal còn nhiều chưa khai thác được hết</a:t>
                      </a:r>
                    </a:p>
                    <a:p>
                      <a:pPr algn="just">
                        <a:lnSpc>
                          <a:spcPct val="150000"/>
                        </a:lnSpc>
                      </a:pPr>
                      <a:r>
                        <a:rPr lang="vi-VN" sz="1400" baseline="0" dirty="0">
                          <a:solidFill>
                            <a:schemeClr val="tx1"/>
                          </a:solidFill>
                        </a:rPr>
                        <a:t>Số qua các tháng ổn định không biến động nhiều.</a:t>
                      </a:r>
                    </a:p>
                    <a:p>
                      <a:pPr algn="just">
                        <a:lnSpc>
                          <a:spcPct val="150000"/>
                        </a:lnSpc>
                      </a:pPr>
                      <a:r>
                        <a:rPr lang="vi-VN" sz="1400" baseline="0" dirty="0">
                          <a:solidFill>
                            <a:schemeClr val="tx1"/>
                          </a:solidFill>
                        </a:rPr>
                        <a:t>Khai thác lại được nhà Trọng Phúc.</a:t>
                      </a:r>
                    </a:p>
                    <a:p>
                      <a:pPr marL="0" indent="0" algn="just">
                        <a:lnSpc>
                          <a:spcPct val="150000"/>
                        </a:lnSpc>
                        <a:buFont typeface="Symbol" panose="05050102010706020507" pitchFamily="18" charset="2"/>
                        <a:buNone/>
                      </a:pPr>
                      <a:r>
                        <a:rPr lang="vi-VN" sz="1400" baseline="0" dirty="0">
                          <a:solidFill>
                            <a:schemeClr val="tx1"/>
                          </a:solidFill>
                        </a:rPr>
                        <a:t>Tập trung hàng hóa vào các nhà DC để chắc số, cùng với đó kết hợp lịch đi thị trường khai thác thêm các normal còn lại.</a:t>
                      </a:r>
                    </a:p>
                    <a:p>
                      <a:pPr marL="0" indent="0" algn="just">
                        <a:lnSpc>
                          <a:spcPct val="150000"/>
                        </a:lnSpc>
                        <a:buFont typeface="Symbol" panose="05050102010706020507" pitchFamily="18" charset="2"/>
                        <a:buNone/>
                      </a:pPr>
                      <a:endParaRPr lang="vi-VN" sz="14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spTree>
    <p:extLst>
      <p:ext uri="{BB962C8B-B14F-4D97-AF65-F5344CB8AC3E}">
        <p14:creationId xmlns:p14="http://schemas.microsoft.com/office/powerpoint/2010/main" val="237237863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ản đồ huyện cù lao dung tỉnh sóc tră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5514" y="1319259"/>
            <a:ext cx="5329456" cy="3577166"/>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8">
            <a:extLst>
              <a:ext uri="{FF2B5EF4-FFF2-40B4-BE49-F238E27FC236}">
                <a16:creationId xmlns:a16="http://schemas.microsoft.com/office/drawing/2014/main" id="{92B2F424-9B61-A344-993E-14F9C418CAA7}"/>
              </a:ext>
            </a:extLst>
          </p:cNvPr>
          <p:cNvSpPr txBox="1"/>
          <p:nvPr/>
        </p:nvSpPr>
        <p:spPr>
          <a:xfrm>
            <a:off x="179649" y="196222"/>
            <a:ext cx="3937963" cy="461665"/>
          </a:xfrm>
          <a:prstGeom prst="rect">
            <a:avLst/>
          </a:prstGeom>
          <a:noFill/>
        </p:spPr>
        <p:txBody>
          <a:bodyPr wrap="square" rtlCol="0">
            <a:spAutoFit/>
          </a:bodyPr>
          <a:lstStyle/>
          <a:p>
            <a:r>
              <a:rPr lang="vi-VN" altLang="zh-CN" sz="2400" b="1">
                <a:solidFill>
                  <a:srgbClr val="00925F"/>
                </a:solidFill>
                <a:ea typeface="微软雅黑" panose="020B0503020204020204" pitchFamily="34" charset="-122"/>
                <a:cs typeface="Arial" pitchFamily="34" charset="0"/>
              </a:rPr>
              <a:t>HUYỆN CÙ LAO DUNG</a:t>
            </a:r>
            <a:endParaRPr lang="vi-VN" altLang="zh-CN" sz="2400" b="1" dirty="0">
              <a:solidFill>
                <a:srgbClr val="00925F"/>
              </a:solidFill>
              <a:ea typeface="微软雅黑" panose="020B0503020204020204" pitchFamily="34" charset="-122"/>
              <a:cs typeface="Arial"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26367988"/>
              </p:ext>
            </p:extLst>
          </p:nvPr>
        </p:nvGraphicFramePr>
        <p:xfrm>
          <a:off x="8501508" y="2089087"/>
          <a:ext cx="1071887" cy="640080"/>
        </p:xfrm>
        <a:graphic>
          <a:graphicData uri="http://schemas.openxmlformats.org/drawingml/2006/table">
            <a:tbl>
              <a:tblPr firstRow="1" bandRow="1">
                <a:tableStyleId>{5C22544A-7EE6-4342-B048-85BDC9FD1C3A}</a:tableStyleId>
              </a:tblPr>
              <a:tblGrid>
                <a:gridCol w="1071887">
                  <a:extLst>
                    <a:ext uri="{9D8B030D-6E8A-4147-A177-3AD203B41FA5}">
                      <a16:colId xmlns:a16="http://schemas.microsoft.com/office/drawing/2014/main" val="4150757395"/>
                    </a:ext>
                  </a:extLst>
                </a:gridCol>
              </a:tblGrid>
              <a:tr h="628126">
                <a:tc>
                  <a:txBody>
                    <a:bodyPr/>
                    <a:lstStyle/>
                    <a:p>
                      <a:pPr algn="just"/>
                      <a:r>
                        <a:rPr lang="vi-VN" sz="900" dirty="0">
                          <a:solidFill>
                            <a:schemeClr val="tx1"/>
                          </a:solidFill>
                        </a:rPr>
                        <a:t>Quốc Tặng</a:t>
                      </a:r>
                    </a:p>
                    <a:p>
                      <a:pPr algn="just"/>
                      <a:r>
                        <a:rPr lang="vi-VN" sz="900" dirty="0">
                          <a:solidFill>
                            <a:schemeClr val="tx1"/>
                          </a:solidFill>
                        </a:rPr>
                        <a:t>Lâm Mobile</a:t>
                      </a:r>
                    </a:p>
                    <a:p>
                      <a:pPr algn="just"/>
                      <a:r>
                        <a:rPr lang="vi-VN" sz="900" dirty="0">
                          <a:solidFill>
                            <a:schemeClr val="tx1"/>
                          </a:solidFill>
                        </a:rPr>
                        <a:t>Huỳnh Duyên</a:t>
                      </a:r>
                    </a:p>
                    <a:p>
                      <a:pPr algn="just"/>
                      <a:r>
                        <a:rPr lang="vi-VN" sz="900" dirty="0">
                          <a:solidFill>
                            <a:schemeClr val="tx1"/>
                          </a:solidFill>
                        </a:rPr>
                        <a:t>VT168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sp>
        <p:nvSpPr>
          <p:cNvPr id="5" name="椭圆 9"/>
          <p:cNvSpPr/>
          <p:nvPr/>
        </p:nvSpPr>
        <p:spPr>
          <a:xfrm>
            <a:off x="8237112" y="2356740"/>
            <a:ext cx="168509" cy="1625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dirty="0"/>
          </a:p>
          <a:p>
            <a:pPr algn="ctr"/>
            <a:endParaRPr kumimoji="1" lang="zh-CN" altLang="en-US" dirty="0"/>
          </a:p>
        </p:txBody>
      </p:sp>
      <p:graphicFrame>
        <p:nvGraphicFramePr>
          <p:cNvPr id="7" name="Table 6"/>
          <p:cNvGraphicFramePr>
            <a:graphicFrameLocks noGrp="1"/>
          </p:cNvGraphicFramePr>
          <p:nvPr>
            <p:extLst>
              <p:ext uri="{D42A27DB-BD31-4B8C-83A1-F6EECF244321}">
                <p14:modId xmlns:p14="http://schemas.microsoft.com/office/powerpoint/2010/main" val="3623142327"/>
              </p:ext>
            </p:extLst>
          </p:nvPr>
        </p:nvGraphicFramePr>
        <p:xfrm>
          <a:off x="9736119" y="3356623"/>
          <a:ext cx="816552" cy="777240"/>
        </p:xfrm>
        <a:graphic>
          <a:graphicData uri="http://schemas.openxmlformats.org/drawingml/2006/table">
            <a:tbl>
              <a:tblPr firstRow="1" bandRow="1">
                <a:tableStyleId>{5C22544A-7EE6-4342-B048-85BDC9FD1C3A}</a:tableStyleId>
              </a:tblPr>
              <a:tblGrid>
                <a:gridCol w="816552">
                  <a:extLst>
                    <a:ext uri="{9D8B030D-6E8A-4147-A177-3AD203B41FA5}">
                      <a16:colId xmlns:a16="http://schemas.microsoft.com/office/drawing/2014/main" val="4150757395"/>
                    </a:ext>
                  </a:extLst>
                </a:gridCol>
              </a:tblGrid>
              <a:tr h="628126">
                <a:tc>
                  <a:txBody>
                    <a:bodyPr/>
                    <a:lstStyle/>
                    <a:p>
                      <a:pPr algn="just"/>
                      <a:r>
                        <a:rPr lang="vi-VN" sz="900" dirty="0">
                          <a:solidFill>
                            <a:schemeClr val="tx1"/>
                          </a:solidFill>
                        </a:rPr>
                        <a:t>Bình An</a:t>
                      </a:r>
                    </a:p>
                    <a:p>
                      <a:pPr algn="just"/>
                      <a:r>
                        <a:rPr lang="vi-VN" sz="900" dirty="0">
                          <a:solidFill>
                            <a:schemeClr val="tx1"/>
                          </a:solidFill>
                        </a:rPr>
                        <a:t>Thạch 2</a:t>
                      </a:r>
                    </a:p>
                    <a:p>
                      <a:pPr algn="just"/>
                      <a:r>
                        <a:rPr lang="vi-VN" sz="900" dirty="0">
                          <a:solidFill>
                            <a:schemeClr val="tx1"/>
                          </a:solidFill>
                        </a:rPr>
                        <a:t>Minh Thư</a:t>
                      </a:r>
                    </a:p>
                    <a:p>
                      <a:pPr algn="just"/>
                      <a:r>
                        <a:rPr lang="vi-VN" sz="900" dirty="0">
                          <a:solidFill>
                            <a:schemeClr val="tx1"/>
                          </a:solidFill>
                        </a:rPr>
                        <a:t>Minh Thế</a:t>
                      </a:r>
                    </a:p>
                    <a:p>
                      <a:pPr algn="just"/>
                      <a:r>
                        <a:rPr lang="vi-VN" sz="900" dirty="0">
                          <a:solidFill>
                            <a:schemeClr val="tx1"/>
                          </a:solidFill>
                        </a:rPr>
                        <a:t>Vũ Phương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sp>
        <p:nvSpPr>
          <p:cNvPr id="8" name="椭圆 9"/>
          <p:cNvSpPr/>
          <p:nvPr/>
        </p:nvSpPr>
        <p:spPr>
          <a:xfrm>
            <a:off x="10552671" y="3663993"/>
            <a:ext cx="168509" cy="1625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dirty="0"/>
          </a:p>
          <a:p>
            <a:pPr algn="ctr"/>
            <a:endParaRPr kumimoji="1" lang="zh-CN" altLang="en-US" dirty="0"/>
          </a:p>
        </p:txBody>
      </p:sp>
      <p:graphicFrame>
        <p:nvGraphicFramePr>
          <p:cNvPr id="12" name="Table 11"/>
          <p:cNvGraphicFramePr>
            <a:graphicFrameLocks noGrp="1"/>
          </p:cNvGraphicFramePr>
          <p:nvPr>
            <p:extLst>
              <p:ext uri="{D42A27DB-BD31-4B8C-83A1-F6EECF244321}">
                <p14:modId xmlns:p14="http://schemas.microsoft.com/office/powerpoint/2010/main" val="2760671977"/>
              </p:ext>
            </p:extLst>
          </p:nvPr>
        </p:nvGraphicFramePr>
        <p:xfrm>
          <a:off x="408163" y="3574472"/>
          <a:ext cx="5461000" cy="2792286"/>
        </p:xfrm>
        <a:graphic>
          <a:graphicData uri="http://schemas.openxmlformats.org/drawingml/2006/table">
            <a:tbl>
              <a:tblPr firstRow="1" bandRow="1">
                <a:tableStyleId>{5C22544A-7EE6-4342-B048-85BDC9FD1C3A}</a:tableStyleId>
              </a:tblPr>
              <a:tblGrid>
                <a:gridCol w="5461000">
                  <a:extLst>
                    <a:ext uri="{9D8B030D-6E8A-4147-A177-3AD203B41FA5}">
                      <a16:colId xmlns:a16="http://schemas.microsoft.com/office/drawing/2014/main" val="4150757395"/>
                    </a:ext>
                  </a:extLst>
                </a:gridCol>
              </a:tblGrid>
              <a:tr h="2512892">
                <a:tc>
                  <a:txBody>
                    <a:bodyPr/>
                    <a:lstStyle/>
                    <a:p>
                      <a:pPr algn="just">
                        <a:lnSpc>
                          <a:spcPct val="150000"/>
                        </a:lnSpc>
                      </a:pPr>
                      <a:r>
                        <a:rPr lang="vi-VN" sz="1500" dirty="0">
                          <a:solidFill>
                            <a:schemeClr val="tx1"/>
                          </a:solidFill>
                        </a:rPr>
                        <a:t>Nhận định:</a:t>
                      </a:r>
                    </a:p>
                    <a:p>
                      <a:pPr algn="just">
                        <a:lnSpc>
                          <a:spcPct val="150000"/>
                        </a:lnSpc>
                      </a:pPr>
                      <a:r>
                        <a:rPr lang="vi-VN" sz="1500" dirty="0">
                          <a:solidFill>
                            <a:schemeClr val="tx1"/>
                          </a:solidFill>
                        </a:rPr>
                        <a:t>Đối với</a:t>
                      </a:r>
                      <a:r>
                        <a:rPr lang="vi-VN" sz="1500" baseline="0" dirty="0">
                          <a:solidFill>
                            <a:schemeClr val="tx1"/>
                          </a:solidFill>
                        </a:rPr>
                        <a:t> Cù Lao Dung hiện tại đang tăng dần về S.O và doanh thu, tuy nhiên còn nhiều shop chưa nhập hàng.</a:t>
                      </a:r>
                    </a:p>
                    <a:p>
                      <a:pPr algn="just">
                        <a:lnSpc>
                          <a:spcPct val="150000"/>
                        </a:lnSpc>
                      </a:pPr>
                      <a:r>
                        <a:rPr lang="vi-VN" sz="1500" baseline="0" dirty="0">
                          <a:solidFill>
                            <a:schemeClr val="tx1"/>
                          </a:solidFill>
                        </a:rPr>
                        <a:t>Độ phủ S.I OPPO còn thấp</a:t>
                      </a:r>
                    </a:p>
                    <a:p>
                      <a:pPr algn="just">
                        <a:lnSpc>
                          <a:spcPct val="150000"/>
                        </a:lnSpc>
                      </a:pPr>
                      <a:r>
                        <a:rPr lang="vi-VN" sz="1500" dirty="0">
                          <a:solidFill>
                            <a:schemeClr val="tx1"/>
                          </a:solidFill>
                        </a:rPr>
                        <a:t>Tập trung khai thác shop Quốc Tặng, Thạch</a:t>
                      </a:r>
                      <a:r>
                        <a:rPr lang="vi-VN" sz="1500" baseline="0" dirty="0">
                          <a:solidFill>
                            <a:schemeClr val="tx1"/>
                          </a:solidFill>
                        </a:rPr>
                        <a:t> 2, Bình An.</a:t>
                      </a:r>
                    </a:p>
                    <a:p>
                      <a:pPr algn="just">
                        <a:lnSpc>
                          <a:spcPct val="150000"/>
                        </a:lnSpc>
                      </a:pPr>
                      <a:r>
                        <a:rPr lang="vi-VN" sz="1500" baseline="0" dirty="0">
                          <a:solidFill>
                            <a:schemeClr val="tx1"/>
                          </a:solidFill>
                        </a:rPr>
                        <a:t>Các nhà normal còn lại bán chủ yếu pk dưới 5tr. Nhưng vẫn đặt mục tiêu push S.I vào để có S.O</a:t>
                      </a:r>
                    </a:p>
                    <a:p>
                      <a:pPr algn="just">
                        <a:lnSpc>
                          <a:spcPct val="150000"/>
                        </a:lnSpc>
                      </a:pPr>
                      <a:endParaRPr lang="vi-VN" sz="15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072246084"/>
              </p:ext>
            </p:extLst>
          </p:nvPr>
        </p:nvGraphicFramePr>
        <p:xfrm>
          <a:off x="7343373" y="5043775"/>
          <a:ext cx="3753738" cy="320040"/>
        </p:xfrm>
        <a:graphic>
          <a:graphicData uri="http://schemas.openxmlformats.org/drawingml/2006/table">
            <a:tbl>
              <a:tblPr firstRow="1" bandRow="1">
                <a:tableStyleId>{5C22544A-7EE6-4342-B048-85BDC9FD1C3A}</a:tableStyleId>
              </a:tblPr>
              <a:tblGrid>
                <a:gridCol w="3753738">
                  <a:extLst>
                    <a:ext uri="{9D8B030D-6E8A-4147-A177-3AD203B41FA5}">
                      <a16:colId xmlns:a16="http://schemas.microsoft.com/office/drawing/2014/main" val="4150757395"/>
                    </a:ext>
                  </a:extLst>
                </a:gridCol>
              </a:tblGrid>
              <a:tr h="209239">
                <a:tc>
                  <a:txBody>
                    <a:bodyPr/>
                    <a:lstStyle/>
                    <a:p>
                      <a:pPr algn="just"/>
                      <a:r>
                        <a:rPr lang="vi-VN" sz="1500" dirty="0">
                          <a:solidFill>
                            <a:schemeClr val="tx1"/>
                          </a:solidFill>
                        </a:rPr>
                        <a:t>Bản đồ, vị trí shop huyện Cù Lao Dung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graphicFrame>
        <p:nvGraphicFramePr>
          <p:cNvPr id="11" name="Chart 10"/>
          <p:cNvGraphicFramePr/>
          <p:nvPr>
            <p:extLst>
              <p:ext uri="{D42A27DB-BD31-4B8C-83A1-F6EECF244321}">
                <p14:modId xmlns:p14="http://schemas.microsoft.com/office/powerpoint/2010/main" val="3881519546"/>
              </p:ext>
            </p:extLst>
          </p:nvPr>
        </p:nvGraphicFramePr>
        <p:xfrm>
          <a:off x="408163" y="1207214"/>
          <a:ext cx="5632419" cy="21412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5839940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ản đồ hành chĩnh huyện Long Phú"/>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3015" y="1159208"/>
            <a:ext cx="4863040" cy="378194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8">
            <a:extLst>
              <a:ext uri="{FF2B5EF4-FFF2-40B4-BE49-F238E27FC236}">
                <a16:creationId xmlns:a16="http://schemas.microsoft.com/office/drawing/2014/main" id="{92B2F424-9B61-A344-993E-14F9C418CAA7}"/>
              </a:ext>
            </a:extLst>
          </p:cNvPr>
          <p:cNvSpPr txBox="1"/>
          <p:nvPr/>
        </p:nvSpPr>
        <p:spPr>
          <a:xfrm>
            <a:off x="206655" y="113095"/>
            <a:ext cx="3937963" cy="461665"/>
          </a:xfrm>
          <a:prstGeom prst="rect">
            <a:avLst/>
          </a:prstGeom>
          <a:noFill/>
        </p:spPr>
        <p:txBody>
          <a:bodyPr wrap="square" rtlCol="0">
            <a:spAutoFit/>
          </a:bodyPr>
          <a:lstStyle/>
          <a:p>
            <a:r>
              <a:rPr lang="vi-VN" altLang="zh-CN" sz="2400" b="1" dirty="0">
                <a:solidFill>
                  <a:srgbClr val="00925F"/>
                </a:solidFill>
                <a:ea typeface="微软雅黑" panose="020B0503020204020204" pitchFamily="34" charset="-122"/>
                <a:cs typeface="Arial" pitchFamily="34" charset="0"/>
              </a:rPr>
              <a:t>HUYỆN LONG PHÚ</a:t>
            </a:r>
          </a:p>
        </p:txBody>
      </p:sp>
      <p:graphicFrame>
        <p:nvGraphicFramePr>
          <p:cNvPr id="4" name="Table 3"/>
          <p:cNvGraphicFramePr>
            <a:graphicFrameLocks noGrp="1"/>
          </p:cNvGraphicFramePr>
          <p:nvPr>
            <p:extLst>
              <p:ext uri="{D42A27DB-BD31-4B8C-83A1-F6EECF244321}">
                <p14:modId xmlns:p14="http://schemas.microsoft.com/office/powerpoint/2010/main" val="3884912241"/>
              </p:ext>
            </p:extLst>
          </p:nvPr>
        </p:nvGraphicFramePr>
        <p:xfrm>
          <a:off x="973115" y="3500881"/>
          <a:ext cx="4863040" cy="2387442"/>
        </p:xfrm>
        <a:graphic>
          <a:graphicData uri="http://schemas.openxmlformats.org/drawingml/2006/table">
            <a:tbl>
              <a:tblPr firstRow="1" bandRow="1">
                <a:tableStyleId>{5C22544A-7EE6-4342-B048-85BDC9FD1C3A}</a:tableStyleId>
              </a:tblPr>
              <a:tblGrid>
                <a:gridCol w="4863040">
                  <a:extLst>
                    <a:ext uri="{9D8B030D-6E8A-4147-A177-3AD203B41FA5}">
                      <a16:colId xmlns:a16="http://schemas.microsoft.com/office/drawing/2014/main" val="4150757395"/>
                    </a:ext>
                  </a:extLst>
                </a:gridCol>
              </a:tblGrid>
              <a:tr h="2387442">
                <a:tc>
                  <a:txBody>
                    <a:bodyPr/>
                    <a:lstStyle/>
                    <a:p>
                      <a:pPr algn="just">
                        <a:lnSpc>
                          <a:spcPct val="150000"/>
                        </a:lnSpc>
                      </a:pPr>
                      <a:r>
                        <a:rPr lang="vi-VN" sz="1400" dirty="0">
                          <a:solidFill>
                            <a:schemeClr val="tx1"/>
                          </a:solidFill>
                          <a:latin typeface="+mj-lt"/>
                        </a:rPr>
                        <a:t>Nhận định: </a:t>
                      </a:r>
                    </a:p>
                    <a:p>
                      <a:pPr algn="just">
                        <a:lnSpc>
                          <a:spcPct val="150000"/>
                        </a:lnSpc>
                      </a:pPr>
                      <a:r>
                        <a:rPr lang="vi-VN" sz="1400" dirty="0">
                          <a:solidFill>
                            <a:schemeClr val="tx1"/>
                          </a:solidFill>
                          <a:latin typeface="+mj-lt"/>
                        </a:rPr>
                        <a:t>Khai thác S.O chưa tốt</a:t>
                      </a:r>
                    </a:p>
                    <a:p>
                      <a:pPr algn="just">
                        <a:lnSpc>
                          <a:spcPct val="150000"/>
                        </a:lnSpc>
                      </a:pPr>
                      <a:r>
                        <a:rPr lang="vi-VN" sz="1400" dirty="0">
                          <a:solidFill>
                            <a:schemeClr val="tx1"/>
                          </a:solidFill>
                          <a:latin typeface="+mj-lt"/>
                        </a:rPr>
                        <a:t>Tỉ lệ phủ thấp</a:t>
                      </a:r>
                    </a:p>
                    <a:p>
                      <a:pPr algn="just">
                        <a:lnSpc>
                          <a:spcPct val="150000"/>
                        </a:lnSpc>
                      </a:pPr>
                      <a:r>
                        <a:rPr lang="vi-VN" sz="1400" dirty="0">
                          <a:solidFill>
                            <a:schemeClr val="tx1"/>
                          </a:solidFill>
                          <a:latin typeface="+mj-lt"/>
                        </a:rPr>
                        <a:t>Các shop chủ yếu nhập hàng ngoài,</a:t>
                      </a:r>
                      <a:r>
                        <a:rPr lang="vi-VN" sz="1400" baseline="0" dirty="0">
                          <a:solidFill>
                            <a:schemeClr val="tx1"/>
                          </a:solidFill>
                          <a:latin typeface="+mj-lt"/>
                        </a:rPr>
                        <a:t> chưa vào được hàng các nhà DC cũ.</a:t>
                      </a:r>
                    </a:p>
                    <a:p>
                      <a:pPr algn="just">
                        <a:lnSpc>
                          <a:spcPct val="150000"/>
                        </a:lnSpc>
                      </a:pPr>
                      <a:r>
                        <a:rPr lang="vi-VN" sz="1400" baseline="0" dirty="0">
                          <a:solidFill>
                            <a:schemeClr val="tx1"/>
                          </a:solidFill>
                          <a:latin typeface="+mj-lt"/>
                        </a:rPr>
                        <a:t>Cần tập trung thời gian vào để lấy lại thị.</a:t>
                      </a:r>
                      <a:endParaRPr lang="vi-VN" sz="140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240913265"/>
              </p:ext>
            </p:extLst>
          </p:nvPr>
        </p:nvGraphicFramePr>
        <p:xfrm>
          <a:off x="9341155" y="1885048"/>
          <a:ext cx="1071887" cy="396240"/>
        </p:xfrm>
        <a:graphic>
          <a:graphicData uri="http://schemas.openxmlformats.org/drawingml/2006/table">
            <a:tbl>
              <a:tblPr firstRow="1" bandRow="1">
                <a:tableStyleId>{5C22544A-7EE6-4342-B048-85BDC9FD1C3A}</a:tableStyleId>
              </a:tblPr>
              <a:tblGrid>
                <a:gridCol w="1071887">
                  <a:extLst>
                    <a:ext uri="{9D8B030D-6E8A-4147-A177-3AD203B41FA5}">
                      <a16:colId xmlns:a16="http://schemas.microsoft.com/office/drawing/2014/main" val="4150757395"/>
                    </a:ext>
                  </a:extLst>
                </a:gridCol>
              </a:tblGrid>
              <a:tr h="344091">
                <a:tc>
                  <a:txBody>
                    <a:bodyPr/>
                    <a:lstStyle/>
                    <a:p>
                      <a:pPr algn="just"/>
                      <a:r>
                        <a:rPr lang="vi-VN" sz="1000" dirty="0">
                          <a:solidFill>
                            <a:schemeClr val="tx1"/>
                          </a:solidFill>
                        </a:rPr>
                        <a:t>Vũ 2</a:t>
                      </a:r>
                    </a:p>
                    <a:p>
                      <a:pPr algn="just"/>
                      <a:r>
                        <a:rPr lang="vi-VN" sz="1000" dirty="0">
                          <a:solidFill>
                            <a:schemeClr val="tx1"/>
                          </a:solidFill>
                        </a:rPr>
                        <a:t>Tuyết Nhung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sp>
        <p:nvSpPr>
          <p:cNvPr id="10" name="椭圆 9"/>
          <p:cNvSpPr/>
          <p:nvPr/>
        </p:nvSpPr>
        <p:spPr>
          <a:xfrm>
            <a:off x="9094083" y="2022122"/>
            <a:ext cx="168509" cy="1625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dirty="0"/>
          </a:p>
          <a:p>
            <a:pPr algn="ctr"/>
            <a:endParaRPr kumimoji="1" lang="zh-CN" altLang="en-US" dirty="0"/>
          </a:p>
        </p:txBody>
      </p:sp>
      <p:graphicFrame>
        <p:nvGraphicFramePr>
          <p:cNvPr id="11" name="Table 10"/>
          <p:cNvGraphicFramePr>
            <a:graphicFrameLocks noGrp="1"/>
          </p:cNvGraphicFramePr>
          <p:nvPr>
            <p:extLst>
              <p:ext uri="{D42A27DB-BD31-4B8C-83A1-F6EECF244321}">
                <p14:modId xmlns:p14="http://schemas.microsoft.com/office/powerpoint/2010/main" val="2275961366"/>
              </p:ext>
            </p:extLst>
          </p:nvPr>
        </p:nvGraphicFramePr>
        <p:xfrm>
          <a:off x="10430366" y="3033747"/>
          <a:ext cx="1071887" cy="777240"/>
        </p:xfrm>
        <a:graphic>
          <a:graphicData uri="http://schemas.openxmlformats.org/drawingml/2006/table">
            <a:tbl>
              <a:tblPr firstRow="1" bandRow="1">
                <a:tableStyleId>{5C22544A-7EE6-4342-B048-85BDC9FD1C3A}</a:tableStyleId>
              </a:tblPr>
              <a:tblGrid>
                <a:gridCol w="1071887">
                  <a:extLst>
                    <a:ext uri="{9D8B030D-6E8A-4147-A177-3AD203B41FA5}">
                      <a16:colId xmlns:a16="http://schemas.microsoft.com/office/drawing/2014/main" val="4150757395"/>
                    </a:ext>
                  </a:extLst>
                </a:gridCol>
              </a:tblGrid>
              <a:tr h="628126">
                <a:tc>
                  <a:txBody>
                    <a:bodyPr/>
                    <a:lstStyle/>
                    <a:p>
                      <a:pPr algn="just"/>
                      <a:r>
                        <a:rPr lang="vi-VN" sz="900" dirty="0">
                          <a:solidFill>
                            <a:schemeClr val="tx1"/>
                          </a:solidFill>
                        </a:rPr>
                        <a:t>Hoàng Thắng</a:t>
                      </a:r>
                    </a:p>
                    <a:p>
                      <a:pPr algn="just"/>
                      <a:r>
                        <a:rPr lang="vi-VN" sz="900" dirty="0">
                          <a:solidFill>
                            <a:schemeClr val="tx1"/>
                          </a:solidFill>
                        </a:rPr>
                        <a:t>Ngọc Dung</a:t>
                      </a:r>
                    </a:p>
                    <a:p>
                      <a:pPr algn="just"/>
                      <a:r>
                        <a:rPr lang="vi-VN" sz="900" dirty="0">
                          <a:solidFill>
                            <a:schemeClr val="tx1"/>
                          </a:solidFill>
                        </a:rPr>
                        <a:t>Hải Hồ</a:t>
                      </a:r>
                    </a:p>
                    <a:p>
                      <a:pPr algn="just"/>
                      <a:r>
                        <a:rPr lang="vi-VN" sz="900" dirty="0">
                          <a:solidFill>
                            <a:schemeClr val="tx1"/>
                          </a:solidFill>
                        </a:rPr>
                        <a:t>Linh An</a:t>
                      </a:r>
                    </a:p>
                    <a:p>
                      <a:pPr algn="just"/>
                      <a:r>
                        <a:rPr lang="vi-VN" sz="900" dirty="0">
                          <a:solidFill>
                            <a:schemeClr val="tx1"/>
                          </a:solidFill>
                        </a:rPr>
                        <a:t>Trường Hải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sp>
        <p:nvSpPr>
          <p:cNvPr id="12" name="椭圆 9"/>
          <p:cNvSpPr/>
          <p:nvPr/>
        </p:nvSpPr>
        <p:spPr>
          <a:xfrm>
            <a:off x="10165970" y="3301400"/>
            <a:ext cx="168509" cy="1625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dirty="0"/>
          </a:p>
          <a:p>
            <a:pPr algn="ctr"/>
            <a:endParaRPr kumimoji="1" lang="zh-CN" altLang="en-US" dirty="0"/>
          </a:p>
        </p:txBody>
      </p:sp>
      <p:graphicFrame>
        <p:nvGraphicFramePr>
          <p:cNvPr id="13" name="Table 12"/>
          <p:cNvGraphicFramePr>
            <a:graphicFrameLocks noGrp="1"/>
          </p:cNvGraphicFramePr>
          <p:nvPr>
            <p:extLst>
              <p:ext uri="{D42A27DB-BD31-4B8C-83A1-F6EECF244321}">
                <p14:modId xmlns:p14="http://schemas.microsoft.com/office/powerpoint/2010/main" val="367803501"/>
              </p:ext>
            </p:extLst>
          </p:nvPr>
        </p:nvGraphicFramePr>
        <p:xfrm>
          <a:off x="8805211" y="3810987"/>
          <a:ext cx="1071887" cy="396240"/>
        </p:xfrm>
        <a:graphic>
          <a:graphicData uri="http://schemas.openxmlformats.org/drawingml/2006/table">
            <a:tbl>
              <a:tblPr firstRow="1" bandRow="1">
                <a:tableStyleId>{5C22544A-7EE6-4342-B048-85BDC9FD1C3A}</a:tableStyleId>
              </a:tblPr>
              <a:tblGrid>
                <a:gridCol w="1071887">
                  <a:extLst>
                    <a:ext uri="{9D8B030D-6E8A-4147-A177-3AD203B41FA5}">
                      <a16:colId xmlns:a16="http://schemas.microsoft.com/office/drawing/2014/main" val="4150757395"/>
                    </a:ext>
                  </a:extLst>
                </a:gridCol>
              </a:tblGrid>
              <a:tr h="344091">
                <a:tc>
                  <a:txBody>
                    <a:bodyPr/>
                    <a:lstStyle/>
                    <a:p>
                      <a:pPr algn="just"/>
                      <a:r>
                        <a:rPr lang="vi-VN" sz="1000" dirty="0">
                          <a:solidFill>
                            <a:schemeClr val="tx1"/>
                          </a:solidFill>
                        </a:rPr>
                        <a:t>Trung Tín</a:t>
                      </a:r>
                    </a:p>
                    <a:p>
                      <a:pPr algn="just"/>
                      <a:r>
                        <a:rPr lang="vi-VN" sz="1000" dirty="0">
                          <a:solidFill>
                            <a:schemeClr val="tx1"/>
                          </a:solidFill>
                        </a:rPr>
                        <a:t>Anh Thương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sp>
        <p:nvSpPr>
          <p:cNvPr id="14" name="椭圆 9"/>
          <p:cNvSpPr/>
          <p:nvPr/>
        </p:nvSpPr>
        <p:spPr>
          <a:xfrm>
            <a:off x="8558139" y="3948061"/>
            <a:ext cx="168509" cy="1625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dirty="0"/>
          </a:p>
          <a:p>
            <a:pPr algn="ctr"/>
            <a:endParaRPr kumimoji="1" lang="zh-CN" altLang="en-US" dirty="0"/>
          </a:p>
        </p:txBody>
      </p:sp>
      <p:graphicFrame>
        <p:nvGraphicFramePr>
          <p:cNvPr id="15" name="Table 14"/>
          <p:cNvGraphicFramePr>
            <a:graphicFrameLocks noGrp="1"/>
          </p:cNvGraphicFramePr>
          <p:nvPr>
            <p:extLst>
              <p:ext uri="{D42A27DB-BD31-4B8C-83A1-F6EECF244321}">
                <p14:modId xmlns:p14="http://schemas.microsoft.com/office/powerpoint/2010/main" val="3562371034"/>
              </p:ext>
            </p:extLst>
          </p:nvPr>
        </p:nvGraphicFramePr>
        <p:xfrm>
          <a:off x="7585617" y="5225941"/>
          <a:ext cx="3617835" cy="320040"/>
        </p:xfrm>
        <a:graphic>
          <a:graphicData uri="http://schemas.openxmlformats.org/drawingml/2006/table">
            <a:tbl>
              <a:tblPr firstRow="1" bandRow="1">
                <a:tableStyleId>{5C22544A-7EE6-4342-B048-85BDC9FD1C3A}</a:tableStyleId>
              </a:tblPr>
              <a:tblGrid>
                <a:gridCol w="3617835">
                  <a:extLst>
                    <a:ext uri="{9D8B030D-6E8A-4147-A177-3AD203B41FA5}">
                      <a16:colId xmlns:a16="http://schemas.microsoft.com/office/drawing/2014/main" val="4150757395"/>
                    </a:ext>
                  </a:extLst>
                </a:gridCol>
              </a:tblGrid>
              <a:tr h="209239">
                <a:tc>
                  <a:txBody>
                    <a:bodyPr/>
                    <a:lstStyle/>
                    <a:p>
                      <a:pPr algn="just"/>
                      <a:r>
                        <a:rPr lang="vi-VN" sz="1500" dirty="0">
                          <a:solidFill>
                            <a:schemeClr val="tx1"/>
                          </a:solidFill>
                        </a:rPr>
                        <a:t>Bản đồ, vị trí shop huyện Long Phú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767727"/>
                  </a:ext>
                </a:extLst>
              </a:tr>
            </a:tbl>
          </a:graphicData>
        </a:graphic>
      </p:graphicFrame>
      <p:graphicFrame>
        <p:nvGraphicFramePr>
          <p:cNvPr id="18" name="Chart 17"/>
          <p:cNvGraphicFramePr/>
          <p:nvPr>
            <p:extLst>
              <p:ext uri="{D42A27DB-BD31-4B8C-83A1-F6EECF244321}">
                <p14:modId xmlns:p14="http://schemas.microsoft.com/office/powerpoint/2010/main" val="1754203620"/>
              </p:ext>
            </p:extLst>
          </p:nvPr>
        </p:nvGraphicFramePr>
        <p:xfrm>
          <a:off x="454345" y="1114021"/>
          <a:ext cx="5632419" cy="21412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4957190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8">
            <a:extLst>
              <a:ext uri="{FF2B5EF4-FFF2-40B4-BE49-F238E27FC236}">
                <a16:creationId xmlns:a16="http://schemas.microsoft.com/office/drawing/2014/main" id="{92B2F424-9B61-A344-993E-14F9C418CAA7}"/>
              </a:ext>
            </a:extLst>
          </p:cNvPr>
          <p:cNvSpPr txBox="1"/>
          <p:nvPr/>
        </p:nvSpPr>
        <p:spPr>
          <a:xfrm>
            <a:off x="180859" y="176233"/>
            <a:ext cx="2351116" cy="461665"/>
          </a:xfrm>
          <a:prstGeom prst="rect">
            <a:avLst/>
          </a:prstGeom>
          <a:noFill/>
        </p:spPr>
        <p:txBody>
          <a:bodyPr wrap="square" rtlCol="0">
            <a:spAutoFit/>
          </a:bodyPr>
          <a:lstStyle/>
          <a:p>
            <a:r>
              <a:rPr lang="vi-VN" altLang="zh-CN" sz="2400" b="1" dirty="0">
                <a:solidFill>
                  <a:srgbClr val="00925F"/>
                </a:solidFill>
                <a:ea typeface="微软雅黑" panose="020B0503020204020204" pitchFamily="34" charset="-122"/>
                <a:cs typeface="Arial" pitchFamily="34" charset="0"/>
              </a:rPr>
              <a:t>TƠ TẠO</a:t>
            </a:r>
          </a:p>
        </p:txBody>
      </p:sp>
      <p:sp>
        <p:nvSpPr>
          <p:cNvPr id="11" name="TextBox 10"/>
          <p:cNvSpPr txBox="1"/>
          <p:nvPr/>
        </p:nvSpPr>
        <p:spPr>
          <a:xfrm>
            <a:off x="180859" y="600295"/>
            <a:ext cx="2894850" cy="523220"/>
          </a:xfrm>
          <a:prstGeom prst="rect">
            <a:avLst/>
          </a:prstGeom>
          <a:noFill/>
        </p:spPr>
        <p:txBody>
          <a:bodyPr wrap="square" rtlCol="0">
            <a:spAutoFit/>
          </a:bodyPr>
          <a:lstStyle/>
          <a:p>
            <a:r>
              <a:rPr lang="vi-VN" sz="1400" b="1" dirty="0">
                <a:latin typeface="+mj-lt"/>
              </a:rPr>
              <a:t>Mục tiêu: 120 máy/tháng</a:t>
            </a:r>
          </a:p>
          <a:p>
            <a:r>
              <a:rPr lang="vi-VN" sz="1400" b="1" dirty="0">
                <a:latin typeface="+mj-lt"/>
              </a:rPr>
              <a:t>Nhân sự: Nguyễn Thị Thanh Thảo </a:t>
            </a:r>
          </a:p>
        </p:txBody>
      </p:sp>
      <p:graphicFrame>
        <p:nvGraphicFramePr>
          <p:cNvPr id="41" name="Table 40"/>
          <p:cNvGraphicFramePr>
            <a:graphicFrameLocks noGrp="1"/>
          </p:cNvGraphicFramePr>
          <p:nvPr>
            <p:extLst>
              <p:ext uri="{D42A27DB-BD31-4B8C-83A1-F6EECF244321}">
                <p14:modId xmlns:p14="http://schemas.microsoft.com/office/powerpoint/2010/main" val="1530258370"/>
              </p:ext>
            </p:extLst>
          </p:nvPr>
        </p:nvGraphicFramePr>
        <p:xfrm>
          <a:off x="6530000" y="286327"/>
          <a:ext cx="5458800" cy="3751344"/>
        </p:xfrm>
        <a:graphic>
          <a:graphicData uri="http://schemas.openxmlformats.org/drawingml/2006/table">
            <a:tbl>
              <a:tblPr firstRow="1" bandRow="1">
                <a:tableStyleId>{5C22544A-7EE6-4342-B048-85BDC9FD1C3A}</a:tableStyleId>
              </a:tblPr>
              <a:tblGrid>
                <a:gridCol w="2729400">
                  <a:extLst>
                    <a:ext uri="{9D8B030D-6E8A-4147-A177-3AD203B41FA5}">
                      <a16:colId xmlns:a16="http://schemas.microsoft.com/office/drawing/2014/main" val="3647694796"/>
                    </a:ext>
                  </a:extLst>
                </a:gridCol>
                <a:gridCol w="2729400">
                  <a:extLst>
                    <a:ext uri="{9D8B030D-6E8A-4147-A177-3AD203B41FA5}">
                      <a16:colId xmlns:a16="http://schemas.microsoft.com/office/drawing/2014/main" val="2752224524"/>
                    </a:ext>
                  </a:extLst>
                </a:gridCol>
              </a:tblGrid>
              <a:tr h="494066">
                <a:tc gridSpan="2">
                  <a:txBody>
                    <a:bodyPr/>
                    <a:lstStyle/>
                    <a:p>
                      <a:pPr algn="l"/>
                      <a:r>
                        <a:rPr lang="vi-VN" sz="1800" b="1" dirty="0">
                          <a:solidFill>
                            <a:schemeClr val="tx1"/>
                          </a:solidFill>
                          <a:latin typeface="+mj-lt"/>
                        </a:rPr>
                        <a:t>Phân tích SWOT</a:t>
                      </a:r>
                    </a:p>
                  </a:txBody>
                  <a:tcPr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just"/>
                      <a:endParaRPr lang="vi-VN" sz="14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2066404"/>
                  </a:ext>
                </a:extLst>
              </a:tr>
              <a:tr h="1847879">
                <a:tc>
                  <a:txBody>
                    <a:bodyPr/>
                    <a:lstStyle/>
                    <a:p>
                      <a:pPr algn="l"/>
                      <a:r>
                        <a:rPr lang="vi-VN" sz="1400" b="1" dirty="0">
                          <a:solidFill>
                            <a:schemeClr val="tx1"/>
                          </a:solidFill>
                          <a:latin typeface="+mj-lt"/>
                        </a:rPr>
                        <a:t>Thuận lợi:</a:t>
                      </a:r>
                    </a:p>
                    <a:p>
                      <a:pPr algn="l"/>
                      <a:r>
                        <a:rPr lang="vi-VN" sz="1400" b="0" dirty="0">
                          <a:solidFill>
                            <a:schemeClr val="tx1"/>
                          </a:solidFill>
                          <a:latin typeface="+mj-lt"/>
                        </a:rPr>
                        <a:t>PGs giỏi, có thâm niên</a:t>
                      </a:r>
                    </a:p>
                    <a:p>
                      <a:pPr algn="l"/>
                      <a:r>
                        <a:rPr lang="vi-VN" sz="1400" b="0" dirty="0">
                          <a:solidFill>
                            <a:schemeClr val="tx1"/>
                          </a:solidFill>
                          <a:latin typeface="+mj-lt"/>
                        </a:rPr>
                        <a:t>Đại lý happy với mình</a:t>
                      </a:r>
                    </a:p>
                    <a:p>
                      <a:pPr algn="l"/>
                      <a:r>
                        <a:rPr lang="vi-VN" sz="1400" b="0" dirty="0">
                          <a:solidFill>
                            <a:schemeClr val="tx1"/>
                          </a:solidFill>
                          <a:latin typeface="+mj-lt"/>
                        </a:rPr>
                        <a:t>Tầm nhìn của đại lý luôn đồng hành cùng hãng</a:t>
                      </a:r>
                    </a:p>
                    <a:p>
                      <a:pPr algn="l"/>
                      <a:r>
                        <a:rPr lang="vi-VN" sz="1400" b="0" dirty="0">
                          <a:solidFill>
                            <a:schemeClr val="tx1"/>
                          </a:solidFill>
                          <a:latin typeface="+mj-lt"/>
                        </a:rPr>
                        <a:t>Từng làm việc trước đó,</a:t>
                      </a:r>
                      <a:r>
                        <a:rPr lang="vi-VN" sz="1400" b="0" baseline="0" dirty="0">
                          <a:solidFill>
                            <a:schemeClr val="tx1"/>
                          </a:solidFill>
                          <a:latin typeface="+mj-lt"/>
                        </a:rPr>
                        <a:t> luôn luôn hỗ trợ, có mối quan hệ tốt</a:t>
                      </a:r>
                      <a:endParaRPr lang="vi-VN" sz="1400" b="0" dirty="0">
                        <a:solidFill>
                          <a:schemeClr val="tx1"/>
                        </a:solidFill>
                        <a:latin typeface="+mj-lt"/>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vi-VN" sz="1400" b="1" dirty="0">
                          <a:solidFill>
                            <a:schemeClr val="tx1"/>
                          </a:solidFill>
                          <a:latin typeface="+mj-lt"/>
                        </a:rPr>
                        <a:t>Cơ hội:</a:t>
                      </a:r>
                    </a:p>
                    <a:p>
                      <a:pPr algn="l"/>
                      <a:r>
                        <a:rPr lang="vi-VN" sz="1400" b="0" dirty="0">
                          <a:solidFill>
                            <a:schemeClr val="tx1"/>
                          </a:solidFill>
                          <a:latin typeface="+mj-lt"/>
                        </a:rPr>
                        <a:t>Shop chạy nhiều khuyến mãi</a:t>
                      </a:r>
                    </a:p>
                    <a:p>
                      <a:pPr algn="l"/>
                      <a:r>
                        <a:rPr lang="vi-VN" sz="1400" b="0" dirty="0">
                          <a:solidFill>
                            <a:schemeClr val="tx1"/>
                          </a:solidFill>
                          <a:latin typeface="+mj-lt"/>
                        </a:rPr>
                        <a:t>Đồng hành cùng nhau phát triển lâu dài.</a:t>
                      </a:r>
                    </a:p>
                    <a:p>
                      <a:pPr algn="l"/>
                      <a:endParaRPr lang="vi-VN" sz="14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237161"/>
                  </a:ext>
                </a:extLst>
              </a:tr>
              <a:tr h="1409399">
                <a:tc>
                  <a:txBody>
                    <a:bodyPr/>
                    <a:lstStyle/>
                    <a:p>
                      <a:pPr algn="l"/>
                      <a:r>
                        <a:rPr lang="vi-VN" sz="1400" b="1" dirty="0">
                          <a:solidFill>
                            <a:schemeClr val="tx1"/>
                          </a:solidFill>
                          <a:latin typeface="+mj-lt"/>
                        </a:rPr>
                        <a:t>Khó khăn:</a:t>
                      </a:r>
                    </a:p>
                    <a:p>
                      <a:pPr algn="l"/>
                      <a:r>
                        <a:rPr lang="vi-VN" sz="1400" dirty="0">
                          <a:solidFill>
                            <a:schemeClr val="tx1"/>
                          </a:solidFill>
                          <a:latin typeface="+mj-lt"/>
                        </a:rPr>
                        <a:t>Tỉ lệ S.O pk 3-5M còn cao, 7M trở lên còn rất thấp.</a:t>
                      </a:r>
                    </a:p>
                    <a:p>
                      <a:pPr algn="l"/>
                      <a:r>
                        <a:rPr lang="vi-VN" sz="1400" dirty="0">
                          <a:solidFill>
                            <a:schemeClr val="tx1"/>
                          </a:solidFill>
                          <a:latin typeface="+mj-lt"/>
                        </a:rPr>
                        <a:t>Các shop thường hay cạnh tranh giá với nhau.</a:t>
                      </a:r>
                    </a:p>
                    <a:p>
                      <a:pPr algn="l"/>
                      <a:endParaRPr lang="en-US" sz="1400" dirty="0">
                        <a:solidFill>
                          <a:schemeClr val="tx1"/>
                        </a:solidFill>
                        <a:latin typeface="+mj-lt"/>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lang="vi-VN" sz="1400" b="1" dirty="0">
                          <a:solidFill>
                            <a:schemeClr val="tx1"/>
                          </a:solidFill>
                          <a:latin typeface="+mj-lt"/>
                        </a:rPr>
                        <a:t>Thách thức:</a:t>
                      </a:r>
                    </a:p>
                    <a:p>
                      <a:pPr algn="l"/>
                      <a:r>
                        <a:rPr lang="vi-VN" sz="1400" dirty="0">
                          <a:solidFill>
                            <a:schemeClr val="tx1"/>
                          </a:solidFill>
                          <a:latin typeface="+mj-lt"/>
                        </a:rPr>
                        <a:t>Duy trì gói 120 máy/tháng.</a:t>
                      </a:r>
                    </a:p>
                    <a:p>
                      <a:pPr algn="l"/>
                      <a:r>
                        <a:rPr lang="vi-VN" sz="1400" dirty="0">
                          <a:solidFill>
                            <a:schemeClr val="tx1"/>
                          </a:solidFill>
                          <a:latin typeface="+mj-lt"/>
                        </a:rPr>
                        <a:t>Lượng</a:t>
                      </a:r>
                      <a:r>
                        <a:rPr lang="vi-VN" sz="1400" baseline="0" dirty="0">
                          <a:solidFill>
                            <a:schemeClr val="tx1"/>
                          </a:solidFill>
                          <a:latin typeface="+mj-lt"/>
                        </a:rPr>
                        <a:t> máy tồn sau chương trình còn nhiều.</a:t>
                      </a:r>
                      <a:endParaRPr lang="en-US" sz="140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2876444"/>
                  </a:ext>
                </a:extLst>
              </a:tr>
            </a:tbl>
          </a:graphicData>
        </a:graphic>
      </p:graphicFrame>
      <p:sp>
        <p:nvSpPr>
          <p:cNvPr id="8" name="TextBox 7"/>
          <p:cNvSpPr txBox="1"/>
          <p:nvPr/>
        </p:nvSpPr>
        <p:spPr>
          <a:xfrm>
            <a:off x="6530000" y="4037671"/>
            <a:ext cx="5458800" cy="2400657"/>
          </a:xfrm>
          <a:prstGeom prst="rect">
            <a:avLst/>
          </a:prstGeom>
          <a:noFill/>
        </p:spPr>
        <p:txBody>
          <a:bodyPr wrap="square" rtlCol="0">
            <a:spAutoFit/>
          </a:bodyPr>
          <a:lstStyle/>
          <a:p>
            <a:r>
              <a:rPr lang="vi-VN" sz="1500" b="1" dirty="0">
                <a:latin typeface="Times New Roman" panose="02020603050405020304" pitchFamily="18" charset="0"/>
                <a:cs typeface="Times New Roman" panose="02020603050405020304" pitchFamily="18" charset="0"/>
              </a:rPr>
              <a:t>Kế hoạch:</a:t>
            </a:r>
          </a:p>
          <a:p>
            <a:r>
              <a:rPr lang="vi-VN" sz="1500" dirty="0">
                <a:latin typeface="Times New Roman" panose="02020603050405020304" pitchFamily="18" charset="0"/>
                <a:cs typeface="Times New Roman" panose="02020603050405020304" pitchFamily="18" charset="0"/>
              </a:rPr>
              <a:t>1. Phân tích cho shop, nhân sự thấy lợi nhuận và KPI khi bán dòng cao, định hướng lại nâng giá trị đơn hàng nhằm tăng S.O Pk 5-7M, đặc biệt là dãy sp mới ra mắt A3.</a:t>
            </a:r>
          </a:p>
          <a:p>
            <a:r>
              <a:rPr lang="vi-VN" sz="1500" dirty="0">
                <a:latin typeface="Times New Roman" panose="02020603050405020304" pitchFamily="18" charset="0"/>
                <a:cs typeface="Times New Roman" panose="02020603050405020304" pitchFamily="18" charset="0"/>
              </a:rPr>
              <a:t>2. Kết hợp với cửa hàng hỗ trợ thiết kế một số hình ảnh truyền thông</a:t>
            </a:r>
          </a:p>
          <a:p>
            <a:r>
              <a:rPr lang="vi-VN" sz="1500" dirty="0">
                <a:latin typeface="Times New Roman" panose="02020603050405020304" pitchFamily="18" charset="0"/>
                <a:cs typeface="Times New Roman" panose="02020603050405020304" pitchFamily="18" charset="0"/>
              </a:rPr>
              <a:t>3. Dựa trên bảng target tuần, và tồn kho cập nhật hằng ngày liên tục push S,I .</a:t>
            </a:r>
          </a:p>
          <a:p>
            <a:r>
              <a:rPr lang="vi-VN" sz="1500" dirty="0">
                <a:latin typeface="Times New Roman" panose="02020603050405020304" pitchFamily="18" charset="0"/>
                <a:cs typeface="Times New Roman" panose="02020603050405020304" pitchFamily="18" charset="0"/>
              </a:rPr>
              <a:t>4. Review liên tục lại kết quả S.O sau lễ và cuối tuần.</a:t>
            </a:r>
          </a:p>
          <a:p>
            <a:r>
              <a:rPr lang="vi-VN" sz="1500" dirty="0">
                <a:latin typeface="Times New Roman" panose="02020603050405020304" pitchFamily="18" charset="0"/>
                <a:cs typeface="Times New Roman" panose="02020603050405020304" pitchFamily="18" charset="0"/>
              </a:rPr>
              <a:t>5. Nắm bắt thông tin, thông báo CTKM, Tiến độ DC liên tục.</a:t>
            </a:r>
          </a:p>
          <a:p>
            <a:r>
              <a:rPr lang="vi-VN" sz="1500" dirty="0">
                <a:latin typeface="Times New Roman" panose="02020603050405020304" pitchFamily="18" charset="0"/>
                <a:cs typeface="Times New Roman" panose="02020603050405020304" pitchFamily="18" charset="0"/>
              </a:rPr>
              <a:t>6. Check shop: 2-3 lần/tuần, hỗ trợ khi cần thiết.</a:t>
            </a:r>
          </a:p>
        </p:txBody>
      </p:sp>
      <p:pic>
        <p:nvPicPr>
          <p:cNvPr id="9" name="Picture 8"/>
          <p:cNvPicPr>
            <a:picLocks noChangeAspect="1"/>
          </p:cNvPicPr>
          <p:nvPr/>
        </p:nvPicPr>
        <p:blipFill>
          <a:blip r:embed="rId2"/>
          <a:stretch>
            <a:fillRect/>
          </a:stretch>
        </p:blipFill>
        <p:spPr>
          <a:xfrm>
            <a:off x="96504" y="3907989"/>
            <a:ext cx="3514914" cy="2520351"/>
          </a:xfrm>
          <a:prstGeom prst="rect">
            <a:avLst/>
          </a:prstGeom>
        </p:spPr>
      </p:pic>
      <p:pic>
        <p:nvPicPr>
          <p:cNvPr id="10" name="Picture 9"/>
          <p:cNvPicPr>
            <a:picLocks noChangeAspect="1"/>
          </p:cNvPicPr>
          <p:nvPr/>
        </p:nvPicPr>
        <p:blipFill>
          <a:blip r:embed="rId3"/>
          <a:stretch>
            <a:fillRect/>
          </a:stretch>
        </p:blipFill>
        <p:spPr>
          <a:xfrm>
            <a:off x="3701829" y="3907989"/>
            <a:ext cx="2592807" cy="2520351"/>
          </a:xfrm>
          <a:prstGeom prst="rect">
            <a:avLst/>
          </a:prstGeom>
        </p:spPr>
      </p:pic>
      <p:pic>
        <p:nvPicPr>
          <p:cNvPr id="12" name="Picture 11"/>
          <p:cNvPicPr>
            <a:picLocks noChangeAspect="1"/>
          </p:cNvPicPr>
          <p:nvPr/>
        </p:nvPicPr>
        <p:blipFill>
          <a:blip r:embed="rId4"/>
          <a:stretch>
            <a:fillRect/>
          </a:stretch>
        </p:blipFill>
        <p:spPr>
          <a:xfrm>
            <a:off x="96504" y="1298858"/>
            <a:ext cx="6198132" cy="2433787"/>
          </a:xfrm>
          <a:prstGeom prst="rect">
            <a:avLst/>
          </a:prstGeom>
        </p:spPr>
      </p:pic>
    </p:spTree>
    <p:extLst>
      <p:ext uri="{BB962C8B-B14F-4D97-AF65-F5344CB8AC3E}">
        <p14:creationId xmlns:p14="http://schemas.microsoft.com/office/powerpoint/2010/main" val="39856791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8">
            <a:extLst>
              <a:ext uri="{FF2B5EF4-FFF2-40B4-BE49-F238E27FC236}">
                <a16:creationId xmlns:a16="http://schemas.microsoft.com/office/drawing/2014/main" id="{92B2F424-9B61-A344-993E-14F9C418CAA7}"/>
              </a:ext>
            </a:extLst>
          </p:cNvPr>
          <p:cNvSpPr txBox="1"/>
          <p:nvPr/>
        </p:nvSpPr>
        <p:spPr>
          <a:xfrm>
            <a:off x="180859" y="139289"/>
            <a:ext cx="3044390" cy="461665"/>
          </a:xfrm>
          <a:prstGeom prst="rect">
            <a:avLst/>
          </a:prstGeom>
          <a:noFill/>
        </p:spPr>
        <p:txBody>
          <a:bodyPr wrap="square" rtlCol="0">
            <a:spAutoFit/>
          </a:bodyPr>
          <a:lstStyle/>
          <a:p>
            <a:r>
              <a:rPr lang="vi-VN" altLang="zh-CN" sz="2400" b="1">
                <a:solidFill>
                  <a:srgbClr val="00925F"/>
                </a:solidFill>
                <a:ea typeface="微软雅黑" panose="020B0503020204020204" pitchFamily="34" charset="-122"/>
                <a:cs typeface="Arial" pitchFamily="34" charset="0"/>
              </a:rPr>
              <a:t>NHỰT TRƯỜNG</a:t>
            </a:r>
            <a:endParaRPr lang="vi-VN" altLang="zh-CN" sz="2400" b="1" dirty="0">
              <a:solidFill>
                <a:srgbClr val="00925F"/>
              </a:solidFill>
              <a:ea typeface="微软雅黑" panose="020B0503020204020204" pitchFamily="34" charset="-122"/>
              <a:cs typeface="Arial"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822039234"/>
              </p:ext>
            </p:extLst>
          </p:nvPr>
        </p:nvGraphicFramePr>
        <p:xfrm>
          <a:off x="6642596" y="206320"/>
          <a:ext cx="5458800" cy="3751344"/>
        </p:xfrm>
        <a:graphic>
          <a:graphicData uri="http://schemas.openxmlformats.org/drawingml/2006/table">
            <a:tbl>
              <a:tblPr firstRow="1" bandRow="1">
                <a:tableStyleId>{5C22544A-7EE6-4342-B048-85BDC9FD1C3A}</a:tableStyleId>
              </a:tblPr>
              <a:tblGrid>
                <a:gridCol w="2729400">
                  <a:extLst>
                    <a:ext uri="{9D8B030D-6E8A-4147-A177-3AD203B41FA5}">
                      <a16:colId xmlns:a16="http://schemas.microsoft.com/office/drawing/2014/main" val="3647694796"/>
                    </a:ext>
                  </a:extLst>
                </a:gridCol>
                <a:gridCol w="2729400">
                  <a:extLst>
                    <a:ext uri="{9D8B030D-6E8A-4147-A177-3AD203B41FA5}">
                      <a16:colId xmlns:a16="http://schemas.microsoft.com/office/drawing/2014/main" val="2752224524"/>
                    </a:ext>
                  </a:extLst>
                </a:gridCol>
              </a:tblGrid>
              <a:tr h="494066">
                <a:tc gridSpan="2">
                  <a:txBody>
                    <a:bodyPr/>
                    <a:lstStyle/>
                    <a:p>
                      <a:pPr algn="l"/>
                      <a:r>
                        <a:rPr lang="vi-VN" sz="1800" b="1" dirty="0">
                          <a:solidFill>
                            <a:schemeClr val="tx1"/>
                          </a:solidFill>
                          <a:latin typeface="+mj-lt"/>
                        </a:rPr>
                        <a:t>Phân tích SWOT</a:t>
                      </a:r>
                    </a:p>
                  </a:txBody>
                  <a:tcPr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just"/>
                      <a:endParaRPr lang="vi-VN" sz="14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2066404"/>
                  </a:ext>
                </a:extLst>
              </a:tr>
              <a:tr h="1847879">
                <a:tc>
                  <a:txBody>
                    <a:bodyPr/>
                    <a:lstStyle/>
                    <a:p>
                      <a:pPr algn="l"/>
                      <a:r>
                        <a:rPr lang="vi-VN" sz="1400" b="1" dirty="0">
                          <a:solidFill>
                            <a:schemeClr val="tx1"/>
                          </a:solidFill>
                          <a:latin typeface="+mj-lt"/>
                        </a:rPr>
                        <a:t>Thuận lợi:</a:t>
                      </a:r>
                    </a:p>
                    <a:p>
                      <a:pPr algn="l"/>
                      <a:endParaRPr lang="vi-VN" sz="1400" b="1" dirty="0">
                        <a:solidFill>
                          <a:schemeClr val="tx1"/>
                        </a:solidFill>
                        <a:latin typeface="+mj-lt"/>
                      </a:endParaRPr>
                    </a:p>
                    <a:p>
                      <a:pPr algn="l"/>
                      <a:r>
                        <a:rPr lang="vi-VN" sz="1400" b="0" dirty="0">
                          <a:solidFill>
                            <a:schemeClr val="tx1"/>
                          </a:solidFill>
                          <a:latin typeface="+mj-lt"/>
                        </a:rPr>
                        <a:t>Nhân sự có thâm niên, chủ động feedback tồn kho,</a:t>
                      </a:r>
                      <a:r>
                        <a:rPr lang="vi-VN" sz="1400" b="0" baseline="0" dirty="0">
                          <a:solidFill>
                            <a:schemeClr val="tx1"/>
                          </a:solidFill>
                          <a:latin typeface="+mj-lt"/>
                        </a:rPr>
                        <a:t> đối thủ,...</a:t>
                      </a:r>
                      <a:endParaRPr lang="vi-VN" sz="1400" b="0" dirty="0">
                        <a:solidFill>
                          <a:schemeClr val="tx1"/>
                        </a:solidFill>
                        <a:latin typeface="+mj-lt"/>
                      </a:endParaRPr>
                    </a:p>
                    <a:p>
                      <a:pPr algn="l"/>
                      <a:r>
                        <a:rPr lang="vi-VN" sz="1400" b="0" dirty="0">
                          <a:solidFill>
                            <a:schemeClr val="tx1"/>
                          </a:solidFill>
                          <a:latin typeface="+mj-lt"/>
                        </a:rPr>
                        <a:t>Đại lý happy với mình,</a:t>
                      </a:r>
                    </a:p>
                    <a:p>
                      <a:pPr algn="l"/>
                      <a:r>
                        <a:rPr lang="vi-VN" sz="1400" b="0" dirty="0">
                          <a:solidFill>
                            <a:schemeClr val="tx1"/>
                          </a:solidFill>
                          <a:latin typeface="+mj-lt"/>
                        </a:rPr>
                        <a:t>Dãy sản phẩm nhiều phân khúc</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vi-VN" sz="1400" b="1" dirty="0">
                          <a:solidFill>
                            <a:schemeClr val="tx1"/>
                          </a:solidFill>
                          <a:latin typeface="+mj-lt"/>
                        </a:rPr>
                        <a:t>Cơ hội:</a:t>
                      </a:r>
                    </a:p>
                    <a:p>
                      <a:pPr algn="l"/>
                      <a:endParaRPr lang="vi-VN" sz="1400" b="1" dirty="0">
                        <a:solidFill>
                          <a:schemeClr val="tx1"/>
                        </a:solidFill>
                        <a:latin typeface="+mj-lt"/>
                      </a:endParaRPr>
                    </a:p>
                    <a:p>
                      <a:pPr algn="l"/>
                      <a:r>
                        <a:rPr lang="vi-VN" sz="1400" b="0" dirty="0">
                          <a:solidFill>
                            <a:schemeClr val="tx1"/>
                          </a:solidFill>
                          <a:latin typeface="+mj-lt"/>
                        </a:rPr>
                        <a:t>Trong khu vực không có shop cạnh tranh lớn.</a:t>
                      </a:r>
                      <a:r>
                        <a:rPr lang="vi-VN" sz="1400" b="0" baseline="0" dirty="0">
                          <a:solidFill>
                            <a:schemeClr val="tx1"/>
                          </a:solidFill>
                          <a:latin typeface="+mj-lt"/>
                        </a:rPr>
                        <a:t> Ưu thế độc quyền</a:t>
                      </a:r>
                    </a:p>
                    <a:p>
                      <a:pPr algn="l"/>
                      <a:endParaRPr lang="vi-VN" sz="1400" b="0" dirty="0">
                        <a:solidFill>
                          <a:schemeClr val="tx1"/>
                        </a:solidFill>
                        <a:latin typeface="+mj-lt"/>
                      </a:endParaRPr>
                    </a:p>
                    <a:p>
                      <a:pPr algn="l"/>
                      <a:r>
                        <a:rPr lang="vi-VN" sz="1400" b="0" dirty="0">
                          <a:solidFill>
                            <a:schemeClr val="tx1"/>
                          </a:solidFill>
                          <a:latin typeface="+mj-lt"/>
                        </a:rPr>
                        <a:t>Shop chạy nhiều khuyến mãi cho các sp OPPO</a:t>
                      </a:r>
                    </a:p>
                    <a:p>
                      <a:pPr algn="l"/>
                      <a:endParaRPr lang="vi-VN" sz="14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237161"/>
                  </a:ext>
                </a:extLst>
              </a:tr>
              <a:tr h="1409399">
                <a:tc>
                  <a:txBody>
                    <a:bodyPr/>
                    <a:lstStyle/>
                    <a:p>
                      <a:pPr algn="l"/>
                      <a:r>
                        <a:rPr lang="vi-VN" sz="1400" b="1" dirty="0">
                          <a:solidFill>
                            <a:schemeClr val="tx1"/>
                          </a:solidFill>
                          <a:latin typeface="+mj-lt"/>
                        </a:rPr>
                        <a:t>Khó khăn:</a:t>
                      </a:r>
                    </a:p>
                    <a:p>
                      <a:pPr algn="l"/>
                      <a:r>
                        <a:rPr lang="vi-VN" sz="1400" dirty="0">
                          <a:solidFill>
                            <a:schemeClr val="tx1"/>
                          </a:solidFill>
                          <a:latin typeface="+mj-lt"/>
                        </a:rPr>
                        <a:t>Tỉ lệ S.O pk 3-5M còn cao, trên 7M tỉ lệ còn thấp.</a:t>
                      </a:r>
                    </a:p>
                    <a:p>
                      <a:pPr algn="l"/>
                      <a:r>
                        <a:rPr lang="vi-VN" sz="1400" dirty="0">
                          <a:solidFill>
                            <a:schemeClr val="tx1"/>
                          </a:solidFill>
                          <a:latin typeface="+mj-lt"/>
                        </a:rPr>
                        <a:t>Các shop gần nhau thường hay cạnh tranh giá với nhau.</a:t>
                      </a:r>
                    </a:p>
                    <a:p>
                      <a:pPr algn="l"/>
                      <a:r>
                        <a:rPr lang="vi-VN" sz="1400" dirty="0">
                          <a:solidFill>
                            <a:schemeClr val="tx1"/>
                          </a:solidFill>
                          <a:latin typeface="+mj-lt"/>
                        </a:rPr>
                        <a:t>Nhân sự và shop không thuận.</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lang="vi-VN" sz="1400" b="1" dirty="0">
                          <a:solidFill>
                            <a:schemeClr val="tx1"/>
                          </a:solidFill>
                          <a:latin typeface="+mj-lt"/>
                        </a:rPr>
                        <a:t>Thách thức:</a:t>
                      </a:r>
                    </a:p>
                    <a:p>
                      <a:pPr algn="l"/>
                      <a:r>
                        <a:rPr lang="vi-VN" sz="1400" dirty="0">
                          <a:solidFill>
                            <a:schemeClr val="tx1"/>
                          </a:solidFill>
                          <a:latin typeface="+mj-lt"/>
                        </a:rPr>
                        <a:t>Duy trì gói 80 máy/tháng.</a:t>
                      </a:r>
                    </a:p>
                    <a:p>
                      <a:pPr algn="l"/>
                      <a:endParaRPr lang="vi-VN" sz="140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2876444"/>
                  </a:ext>
                </a:extLst>
              </a:tr>
            </a:tbl>
          </a:graphicData>
        </a:graphic>
      </p:graphicFrame>
      <p:sp>
        <p:nvSpPr>
          <p:cNvPr id="12" name="TextBox 11"/>
          <p:cNvSpPr txBox="1"/>
          <p:nvPr/>
        </p:nvSpPr>
        <p:spPr>
          <a:xfrm>
            <a:off x="169682" y="561572"/>
            <a:ext cx="2894850" cy="523220"/>
          </a:xfrm>
          <a:prstGeom prst="rect">
            <a:avLst/>
          </a:prstGeom>
          <a:noFill/>
        </p:spPr>
        <p:txBody>
          <a:bodyPr wrap="square" rtlCol="0">
            <a:spAutoFit/>
          </a:bodyPr>
          <a:lstStyle/>
          <a:p>
            <a:r>
              <a:rPr lang="vi-VN" sz="1400" b="1" dirty="0">
                <a:latin typeface="+mj-lt"/>
              </a:rPr>
              <a:t>Mục tiêu: 80 máy/tháng</a:t>
            </a:r>
          </a:p>
          <a:p>
            <a:r>
              <a:rPr lang="vi-VN" sz="1400" b="1" dirty="0">
                <a:latin typeface="+mj-lt"/>
              </a:rPr>
              <a:t>Nhân sự: Trình Thị Tiểu Băng</a:t>
            </a:r>
          </a:p>
        </p:txBody>
      </p:sp>
      <p:pic>
        <p:nvPicPr>
          <p:cNvPr id="8" name="Picture 7"/>
          <p:cNvPicPr>
            <a:picLocks noChangeAspect="1"/>
          </p:cNvPicPr>
          <p:nvPr/>
        </p:nvPicPr>
        <p:blipFill>
          <a:blip r:embed="rId2"/>
          <a:stretch>
            <a:fillRect/>
          </a:stretch>
        </p:blipFill>
        <p:spPr>
          <a:xfrm>
            <a:off x="3225249" y="3812234"/>
            <a:ext cx="3304751" cy="2856422"/>
          </a:xfrm>
          <a:prstGeom prst="rect">
            <a:avLst/>
          </a:prstGeom>
        </p:spPr>
      </p:pic>
      <p:sp>
        <p:nvSpPr>
          <p:cNvPr id="16" name="TextBox 15"/>
          <p:cNvSpPr txBox="1"/>
          <p:nvPr/>
        </p:nvSpPr>
        <p:spPr>
          <a:xfrm>
            <a:off x="6642596" y="4186275"/>
            <a:ext cx="5458800" cy="2169825"/>
          </a:xfrm>
          <a:prstGeom prst="rect">
            <a:avLst/>
          </a:prstGeom>
          <a:noFill/>
        </p:spPr>
        <p:txBody>
          <a:bodyPr wrap="square" rtlCol="0">
            <a:spAutoFit/>
          </a:bodyPr>
          <a:lstStyle/>
          <a:p>
            <a:r>
              <a:rPr lang="vi-VN" sz="1500" b="1" dirty="0">
                <a:latin typeface="Times New Roman" panose="02020603050405020304" pitchFamily="18" charset="0"/>
                <a:cs typeface="Times New Roman" panose="02020603050405020304" pitchFamily="18" charset="0"/>
              </a:rPr>
              <a:t>Kế hoạch:</a:t>
            </a:r>
          </a:p>
          <a:p>
            <a:r>
              <a:rPr lang="vi-VN" sz="1500" dirty="0">
                <a:latin typeface="Times New Roman" panose="02020603050405020304" pitchFamily="18" charset="0"/>
                <a:cs typeface="Times New Roman" panose="02020603050405020304" pitchFamily="18" charset="0"/>
              </a:rPr>
              <a:t>1. Lập bảng excel phân tích với Chị lợi nhuận khi đạt ck 2%, nhằm để shop có mục tiêu để chạy.</a:t>
            </a:r>
          </a:p>
          <a:p>
            <a:r>
              <a:rPr lang="vi-VN" sz="1500" dirty="0">
                <a:latin typeface="Times New Roman" panose="02020603050405020304" pitchFamily="18" charset="0"/>
                <a:cs typeface="Times New Roman" panose="02020603050405020304" pitchFamily="18" charset="0"/>
              </a:rPr>
              <a:t>2. Dựa trên bảng target tuần, và tồn kho cập nhật hằng ngày liên tục push S,I .</a:t>
            </a:r>
          </a:p>
          <a:p>
            <a:r>
              <a:rPr lang="vi-VN" sz="1500" dirty="0">
                <a:latin typeface="Times New Roman" panose="02020603050405020304" pitchFamily="18" charset="0"/>
                <a:cs typeface="Times New Roman" panose="02020603050405020304" pitchFamily="18" charset="0"/>
              </a:rPr>
              <a:t>3. Review liên tục lại kết quả S.O sau lễ và cuối tuần.</a:t>
            </a:r>
          </a:p>
          <a:p>
            <a:r>
              <a:rPr lang="vi-VN" sz="1500" dirty="0">
                <a:latin typeface="Times New Roman" panose="02020603050405020304" pitchFamily="18" charset="0"/>
                <a:cs typeface="Times New Roman" panose="02020603050405020304" pitchFamily="18" charset="0"/>
              </a:rPr>
              <a:t>4. Nắm bắt thông tin, thông báo CTKM, Tiến độ DC liên tục.</a:t>
            </a:r>
          </a:p>
          <a:p>
            <a:r>
              <a:rPr lang="vi-VN" sz="1500" dirty="0">
                <a:latin typeface="Times New Roman" panose="02020603050405020304" pitchFamily="18" charset="0"/>
                <a:cs typeface="Times New Roman" panose="02020603050405020304" pitchFamily="18" charset="0"/>
              </a:rPr>
              <a:t>5. Check shop: 2-3 lần/tuần, hỗ trợ khi cần thiết.</a:t>
            </a:r>
          </a:p>
          <a:p>
            <a:r>
              <a:rPr lang="vi-VN" sz="1500" dirty="0">
                <a:latin typeface="Times New Roman" panose="02020603050405020304" pitchFamily="18" charset="0"/>
                <a:cs typeface="Times New Roman" panose="02020603050405020304" pitchFamily="18" charset="0"/>
              </a:rPr>
              <a:t>6. Hỗ trợ các hoạt động hoạt náo cuối tuần.</a:t>
            </a:r>
          </a:p>
        </p:txBody>
      </p:sp>
      <p:pic>
        <p:nvPicPr>
          <p:cNvPr id="3" name="Picture 2"/>
          <p:cNvPicPr>
            <a:picLocks noChangeAspect="1"/>
          </p:cNvPicPr>
          <p:nvPr/>
        </p:nvPicPr>
        <p:blipFill>
          <a:blip r:embed="rId3"/>
          <a:stretch>
            <a:fillRect/>
          </a:stretch>
        </p:blipFill>
        <p:spPr>
          <a:xfrm>
            <a:off x="121559" y="3812234"/>
            <a:ext cx="2900489" cy="2917909"/>
          </a:xfrm>
          <a:prstGeom prst="rect">
            <a:avLst/>
          </a:prstGeom>
        </p:spPr>
      </p:pic>
      <p:pic>
        <p:nvPicPr>
          <p:cNvPr id="4" name="Picture 3"/>
          <p:cNvPicPr>
            <a:picLocks noChangeAspect="1"/>
          </p:cNvPicPr>
          <p:nvPr/>
        </p:nvPicPr>
        <p:blipFill>
          <a:blip r:embed="rId4"/>
          <a:stretch>
            <a:fillRect/>
          </a:stretch>
        </p:blipFill>
        <p:spPr>
          <a:xfrm>
            <a:off x="121559" y="1084792"/>
            <a:ext cx="6408441" cy="2559270"/>
          </a:xfrm>
          <a:prstGeom prst="rect">
            <a:avLst/>
          </a:prstGeom>
        </p:spPr>
      </p:pic>
    </p:spTree>
    <p:extLst>
      <p:ext uri="{BB962C8B-B14F-4D97-AF65-F5344CB8AC3E}">
        <p14:creationId xmlns:p14="http://schemas.microsoft.com/office/powerpoint/2010/main" val="252940557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8">
            <a:extLst>
              <a:ext uri="{FF2B5EF4-FFF2-40B4-BE49-F238E27FC236}">
                <a16:creationId xmlns:a16="http://schemas.microsoft.com/office/drawing/2014/main" id="{92B2F424-9B61-A344-993E-14F9C418CAA7}"/>
              </a:ext>
            </a:extLst>
          </p:cNvPr>
          <p:cNvSpPr txBox="1"/>
          <p:nvPr/>
        </p:nvSpPr>
        <p:spPr>
          <a:xfrm>
            <a:off x="180858" y="176233"/>
            <a:ext cx="2913323" cy="461665"/>
          </a:xfrm>
          <a:prstGeom prst="rect">
            <a:avLst/>
          </a:prstGeom>
          <a:noFill/>
        </p:spPr>
        <p:txBody>
          <a:bodyPr wrap="square" rtlCol="0">
            <a:spAutoFit/>
          </a:bodyPr>
          <a:lstStyle/>
          <a:p>
            <a:r>
              <a:rPr lang="vi-VN" altLang="zh-CN" sz="2400" b="1" dirty="0">
                <a:solidFill>
                  <a:srgbClr val="00925F"/>
                </a:solidFill>
                <a:ea typeface="微软雅黑" panose="020B0503020204020204" pitchFamily="34" charset="-122"/>
                <a:cs typeface="Arial" pitchFamily="34" charset="0"/>
              </a:rPr>
              <a:t>MỸ THƯƠNG</a:t>
            </a:r>
          </a:p>
        </p:txBody>
      </p:sp>
      <p:sp>
        <p:nvSpPr>
          <p:cNvPr id="9" name="TextBox 8"/>
          <p:cNvSpPr txBox="1"/>
          <p:nvPr/>
        </p:nvSpPr>
        <p:spPr>
          <a:xfrm>
            <a:off x="200686" y="629277"/>
            <a:ext cx="2894850" cy="523220"/>
          </a:xfrm>
          <a:prstGeom prst="rect">
            <a:avLst/>
          </a:prstGeom>
          <a:noFill/>
        </p:spPr>
        <p:txBody>
          <a:bodyPr wrap="square" rtlCol="0">
            <a:spAutoFit/>
          </a:bodyPr>
          <a:lstStyle/>
          <a:p>
            <a:r>
              <a:rPr lang="vi-VN" sz="1400" b="1" dirty="0">
                <a:latin typeface="+mj-lt"/>
              </a:rPr>
              <a:t>Mục tiêu: 60 máy/tháng</a:t>
            </a:r>
          </a:p>
          <a:p>
            <a:r>
              <a:rPr lang="vi-VN" sz="1400" b="1" dirty="0">
                <a:latin typeface="+mj-lt"/>
              </a:rPr>
              <a:t>Nhân sự: Văn Thị Thanh Trúc</a:t>
            </a:r>
          </a:p>
        </p:txBody>
      </p:sp>
      <p:graphicFrame>
        <p:nvGraphicFramePr>
          <p:cNvPr id="10" name="Table 9"/>
          <p:cNvGraphicFramePr>
            <a:graphicFrameLocks noGrp="1"/>
          </p:cNvGraphicFramePr>
          <p:nvPr>
            <p:extLst>
              <p:ext uri="{D42A27DB-BD31-4B8C-83A1-F6EECF244321}">
                <p14:modId xmlns:p14="http://schemas.microsoft.com/office/powerpoint/2010/main" val="3771868596"/>
              </p:ext>
            </p:extLst>
          </p:nvPr>
        </p:nvGraphicFramePr>
        <p:xfrm>
          <a:off x="6681981" y="176233"/>
          <a:ext cx="5458800" cy="3926905"/>
        </p:xfrm>
        <a:graphic>
          <a:graphicData uri="http://schemas.openxmlformats.org/drawingml/2006/table">
            <a:tbl>
              <a:tblPr firstRow="1" bandRow="1">
                <a:tableStyleId>{5C22544A-7EE6-4342-B048-85BDC9FD1C3A}</a:tableStyleId>
              </a:tblPr>
              <a:tblGrid>
                <a:gridCol w="2729400">
                  <a:extLst>
                    <a:ext uri="{9D8B030D-6E8A-4147-A177-3AD203B41FA5}">
                      <a16:colId xmlns:a16="http://schemas.microsoft.com/office/drawing/2014/main" val="3647694796"/>
                    </a:ext>
                  </a:extLst>
                </a:gridCol>
                <a:gridCol w="2729400">
                  <a:extLst>
                    <a:ext uri="{9D8B030D-6E8A-4147-A177-3AD203B41FA5}">
                      <a16:colId xmlns:a16="http://schemas.microsoft.com/office/drawing/2014/main" val="2752224524"/>
                    </a:ext>
                  </a:extLst>
                </a:gridCol>
              </a:tblGrid>
              <a:tr h="494066">
                <a:tc gridSpan="2">
                  <a:txBody>
                    <a:bodyPr/>
                    <a:lstStyle/>
                    <a:p>
                      <a:pPr algn="l"/>
                      <a:r>
                        <a:rPr lang="vi-VN" sz="1800" b="1" dirty="0">
                          <a:solidFill>
                            <a:schemeClr val="tx1"/>
                          </a:solidFill>
                          <a:latin typeface="+mj-lt"/>
                        </a:rPr>
                        <a:t>Phân tích SWOT</a:t>
                      </a:r>
                    </a:p>
                  </a:txBody>
                  <a:tcPr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just"/>
                      <a:endParaRPr lang="vi-VN" sz="14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2066404"/>
                  </a:ext>
                </a:extLst>
              </a:tr>
              <a:tr h="1847879">
                <a:tc>
                  <a:txBody>
                    <a:bodyPr/>
                    <a:lstStyle/>
                    <a:p>
                      <a:pPr algn="l"/>
                      <a:r>
                        <a:rPr lang="vi-VN" sz="1400" b="1" dirty="0">
                          <a:solidFill>
                            <a:schemeClr val="tx1"/>
                          </a:solidFill>
                          <a:latin typeface="+mj-lt"/>
                        </a:rPr>
                        <a:t>Thuận lợi:</a:t>
                      </a:r>
                    </a:p>
                    <a:p>
                      <a:pPr algn="l"/>
                      <a:r>
                        <a:rPr lang="vi-VN" sz="1400" b="0" dirty="0">
                          <a:solidFill>
                            <a:schemeClr val="tx1"/>
                          </a:solidFill>
                          <a:latin typeface="+mj-lt"/>
                        </a:rPr>
                        <a:t>PGs giỏi, có thâm niên</a:t>
                      </a:r>
                    </a:p>
                    <a:p>
                      <a:pPr algn="l"/>
                      <a:r>
                        <a:rPr lang="vi-VN" sz="1400" b="0" dirty="0">
                          <a:solidFill>
                            <a:schemeClr val="tx1"/>
                          </a:solidFill>
                          <a:latin typeface="+mj-lt"/>
                        </a:rPr>
                        <a:t>Đại lý happy với mình</a:t>
                      </a:r>
                    </a:p>
                    <a:p>
                      <a:pPr algn="l"/>
                      <a:r>
                        <a:rPr lang="vi-VN" sz="1400" b="0" dirty="0">
                          <a:solidFill>
                            <a:schemeClr val="tx1"/>
                          </a:solidFill>
                          <a:latin typeface="+mj-lt"/>
                        </a:rPr>
                        <a:t>Tầm nhìn của đại lý luôn đồng hành cùng hãng</a:t>
                      </a:r>
                    </a:p>
                    <a:p>
                      <a:pPr algn="l"/>
                      <a:r>
                        <a:rPr lang="vi-VN" sz="1400" b="0" dirty="0">
                          <a:solidFill>
                            <a:schemeClr val="tx1"/>
                          </a:solidFill>
                          <a:latin typeface="+mj-lt"/>
                        </a:rPr>
                        <a:t>Từng làm việc trước đó,</a:t>
                      </a:r>
                      <a:r>
                        <a:rPr lang="vi-VN" sz="1400" b="0" baseline="0" dirty="0">
                          <a:solidFill>
                            <a:schemeClr val="tx1"/>
                          </a:solidFill>
                          <a:latin typeface="+mj-lt"/>
                        </a:rPr>
                        <a:t> luôn luôn hỗ trợ, có mối quan hệ tốt</a:t>
                      </a:r>
                      <a:endParaRPr lang="vi-VN" sz="1400" b="0" dirty="0">
                        <a:solidFill>
                          <a:schemeClr val="tx1"/>
                        </a:solidFill>
                        <a:latin typeface="+mj-lt"/>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vi-VN" sz="1400" b="1" dirty="0">
                          <a:solidFill>
                            <a:schemeClr val="tx1"/>
                          </a:solidFill>
                          <a:latin typeface="+mj-lt"/>
                        </a:rPr>
                        <a:t>Cơ hội:</a:t>
                      </a:r>
                    </a:p>
                    <a:p>
                      <a:pPr algn="l"/>
                      <a:endParaRPr lang="vi-VN" sz="1400" b="0" dirty="0">
                        <a:solidFill>
                          <a:schemeClr val="tx1"/>
                        </a:solidFill>
                        <a:latin typeface="+mj-lt"/>
                      </a:endParaRPr>
                    </a:p>
                    <a:p>
                      <a:pPr algn="l"/>
                      <a:r>
                        <a:rPr lang="vi-VN" sz="1400" b="0" dirty="0">
                          <a:solidFill>
                            <a:schemeClr val="tx1"/>
                          </a:solidFill>
                          <a:latin typeface="+mj-lt"/>
                        </a:rPr>
                        <a:t>Shop chạy nhiều khuyến mãi</a:t>
                      </a:r>
                    </a:p>
                    <a:p>
                      <a:pPr algn="l"/>
                      <a:r>
                        <a:rPr lang="vi-VN" sz="1400" b="0" dirty="0">
                          <a:solidFill>
                            <a:schemeClr val="tx1"/>
                          </a:solidFill>
                          <a:latin typeface="+mj-lt"/>
                        </a:rPr>
                        <a:t>Đồng hành cùng nhau phát triển lâu dài.</a:t>
                      </a:r>
                    </a:p>
                    <a:p>
                      <a:pPr algn="l"/>
                      <a:endParaRPr lang="vi-VN" sz="14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237161"/>
                  </a:ext>
                </a:extLst>
              </a:tr>
              <a:tr h="1409399">
                <a:tc>
                  <a:txBody>
                    <a:bodyPr/>
                    <a:lstStyle/>
                    <a:p>
                      <a:pPr algn="l"/>
                      <a:r>
                        <a:rPr lang="vi-VN" sz="1400" b="1" dirty="0">
                          <a:solidFill>
                            <a:schemeClr val="tx1"/>
                          </a:solidFill>
                          <a:latin typeface="+mj-lt"/>
                        </a:rPr>
                        <a:t>Khó khăn:</a:t>
                      </a:r>
                    </a:p>
                    <a:p>
                      <a:pPr algn="l"/>
                      <a:r>
                        <a:rPr lang="vi-VN" sz="1400" dirty="0">
                          <a:solidFill>
                            <a:schemeClr val="tx1"/>
                          </a:solidFill>
                          <a:latin typeface="+mj-lt"/>
                        </a:rPr>
                        <a:t>Tỉ lệ S.O pk 3-5M còn cao, 5-7M còn rất thấp.</a:t>
                      </a:r>
                    </a:p>
                    <a:p>
                      <a:pPr algn="l"/>
                      <a:r>
                        <a:rPr lang="vi-VN" sz="1400" dirty="0">
                          <a:solidFill>
                            <a:schemeClr val="tx1"/>
                          </a:solidFill>
                          <a:latin typeface="+mj-lt"/>
                        </a:rPr>
                        <a:t>Các shop thường hay cạnh tranh giá với nhau.</a:t>
                      </a:r>
                    </a:p>
                    <a:p>
                      <a:pPr algn="l"/>
                      <a:r>
                        <a:rPr lang="vi-VN" sz="1400" dirty="0">
                          <a:solidFill>
                            <a:schemeClr val="tx1"/>
                          </a:solidFill>
                          <a:latin typeface="+mj-lt"/>
                        </a:rPr>
                        <a:t>Shop stock pk 5-7M, 7-10M rất ít</a:t>
                      </a:r>
                    </a:p>
                    <a:p>
                      <a:pPr algn="l"/>
                      <a:endParaRPr lang="en-US" sz="1400" dirty="0">
                        <a:solidFill>
                          <a:schemeClr val="tx1"/>
                        </a:solidFill>
                        <a:latin typeface="+mj-lt"/>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lang="vi-VN" sz="1400" b="1" dirty="0">
                          <a:solidFill>
                            <a:schemeClr val="tx1"/>
                          </a:solidFill>
                          <a:latin typeface="+mj-lt"/>
                        </a:rPr>
                        <a:t>Thách thức:</a:t>
                      </a:r>
                    </a:p>
                    <a:p>
                      <a:pPr algn="l"/>
                      <a:r>
                        <a:rPr lang="vi-VN" sz="1400" dirty="0">
                          <a:solidFill>
                            <a:schemeClr val="tx1"/>
                          </a:solidFill>
                          <a:latin typeface="+mj-lt"/>
                        </a:rPr>
                        <a:t>Duy trì gói 60 máy/tháng.</a:t>
                      </a:r>
                    </a:p>
                    <a:p>
                      <a:pPr algn="l"/>
                      <a:r>
                        <a:rPr lang="vi-VN" sz="1400" baseline="0" dirty="0">
                          <a:solidFill>
                            <a:schemeClr val="tx1"/>
                          </a:solidFill>
                          <a:latin typeface="+mj-lt"/>
                        </a:rPr>
                        <a:t>Thường xuyên để giá giảm sâu, ảnh hưởng đến các shop gần cạnh.</a:t>
                      </a:r>
                      <a:endParaRPr lang="en-US" sz="1400" dirty="0">
                        <a:solidFill>
                          <a:schemeClr val="tx1"/>
                        </a:solidFill>
                        <a:latin typeface="+mj-lt"/>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2876444"/>
                  </a:ext>
                </a:extLst>
              </a:tr>
            </a:tbl>
          </a:graphicData>
        </a:graphic>
      </p:graphicFrame>
      <p:pic>
        <p:nvPicPr>
          <p:cNvPr id="6" name="Picture 5"/>
          <p:cNvPicPr>
            <a:picLocks noChangeAspect="1"/>
          </p:cNvPicPr>
          <p:nvPr/>
        </p:nvPicPr>
        <p:blipFill>
          <a:blip r:embed="rId2"/>
          <a:stretch>
            <a:fillRect/>
          </a:stretch>
        </p:blipFill>
        <p:spPr>
          <a:xfrm>
            <a:off x="180858" y="3955650"/>
            <a:ext cx="2736531" cy="2771795"/>
          </a:xfrm>
          <a:prstGeom prst="rect">
            <a:avLst/>
          </a:prstGeom>
        </p:spPr>
      </p:pic>
      <p:pic>
        <p:nvPicPr>
          <p:cNvPr id="8" name="Picture 7"/>
          <p:cNvPicPr>
            <a:picLocks noChangeAspect="1"/>
          </p:cNvPicPr>
          <p:nvPr/>
        </p:nvPicPr>
        <p:blipFill>
          <a:blip r:embed="rId3"/>
          <a:stretch>
            <a:fillRect/>
          </a:stretch>
        </p:blipFill>
        <p:spPr>
          <a:xfrm>
            <a:off x="2973632" y="3768874"/>
            <a:ext cx="3708349" cy="2937297"/>
          </a:xfrm>
          <a:prstGeom prst="rect">
            <a:avLst/>
          </a:prstGeom>
        </p:spPr>
      </p:pic>
      <p:sp>
        <p:nvSpPr>
          <p:cNvPr id="15" name="TextBox 14"/>
          <p:cNvSpPr txBox="1"/>
          <p:nvPr/>
        </p:nvSpPr>
        <p:spPr>
          <a:xfrm>
            <a:off x="6804654" y="4121465"/>
            <a:ext cx="5458800" cy="2169825"/>
          </a:xfrm>
          <a:prstGeom prst="rect">
            <a:avLst/>
          </a:prstGeom>
          <a:noFill/>
        </p:spPr>
        <p:txBody>
          <a:bodyPr wrap="square" rtlCol="0">
            <a:spAutoFit/>
          </a:bodyPr>
          <a:lstStyle/>
          <a:p>
            <a:r>
              <a:rPr lang="vi-VN" sz="1500" b="1" dirty="0">
                <a:latin typeface="Times New Roman" panose="02020603050405020304" pitchFamily="18" charset="0"/>
                <a:cs typeface="Times New Roman" panose="02020603050405020304" pitchFamily="18" charset="0"/>
              </a:rPr>
              <a:t>Kế hoạch:</a:t>
            </a:r>
          </a:p>
          <a:p>
            <a:r>
              <a:rPr lang="vi-VN" sz="1500" dirty="0">
                <a:latin typeface="Times New Roman" panose="02020603050405020304" pitchFamily="18" charset="0"/>
                <a:cs typeface="Times New Roman" panose="02020603050405020304" pitchFamily="18" charset="0"/>
              </a:rPr>
              <a:t>1. Phân tích cho shop, nhân sự thấy lợi nhuận và KPI khi bán dòng cao, định hướng lại nâng giá trị đơn hàng nhằm tăng S.O Pk 5-7M, đặc biệt là dãy sp mới ra mắt A3.</a:t>
            </a:r>
          </a:p>
          <a:p>
            <a:r>
              <a:rPr lang="vi-VN" sz="1500" dirty="0">
                <a:latin typeface="Times New Roman" panose="02020603050405020304" pitchFamily="18" charset="0"/>
                <a:cs typeface="Times New Roman" panose="02020603050405020304" pitchFamily="18" charset="0"/>
              </a:rPr>
              <a:t>2. Dựa trên bảng target tuần, và tồn kho cập nhật hằng ngày liên tục push S,I .</a:t>
            </a:r>
          </a:p>
          <a:p>
            <a:r>
              <a:rPr lang="vi-VN" sz="1500" dirty="0">
                <a:latin typeface="Times New Roman" panose="02020603050405020304" pitchFamily="18" charset="0"/>
                <a:cs typeface="Times New Roman" panose="02020603050405020304" pitchFamily="18" charset="0"/>
              </a:rPr>
              <a:t>3. Review liên tục lại kết quả S.O sau lễ và cuối tuần.</a:t>
            </a:r>
          </a:p>
          <a:p>
            <a:r>
              <a:rPr lang="vi-VN" sz="1500" dirty="0">
                <a:latin typeface="Times New Roman" panose="02020603050405020304" pitchFamily="18" charset="0"/>
                <a:cs typeface="Times New Roman" panose="02020603050405020304" pitchFamily="18" charset="0"/>
              </a:rPr>
              <a:t>4. Nắm bắt thông tin, thông báo CTKM, Tiến độ DC liên tục.</a:t>
            </a:r>
          </a:p>
          <a:p>
            <a:r>
              <a:rPr lang="vi-VN" sz="1500" dirty="0">
                <a:latin typeface="Times New Roman" panose="02020603050405020304" pitchFamily="18" charset="0"/>
                <a:cs typeface="Times New Roman" panose="02020603050405020304" pitchFamily="18" charset="0"/>
              </a:rPr>
              <a:t>5. Check shop: 2-3 lần/tuần, hỗ trợ khi cần thiết.</a:t>
            </a:r>
          </a:p>
        </p:txBody>
      </p:sp>
      <p:pic>
        <p:nvPicPr>
          <p:cNvPr id="3" name="Picture 2"/>
          <p:cNvPicPr>
            <a:picLocks noChangeAspect="1"/>
          </p:cNvPicPr>
          <p:nvPr/>
        </p:nvPicPr>
        <p:blipFill>
          <a:blip r:embed="rId4"/>
          <a:stretch>
            <a:fillRect/>
          </a:stretch>
        </p:blipFill>
        <p:spPr>
          <a:xfrm>
            <a:off x="180858" y="1116330"/>
            <a:ext cx="6501123" cy="2675368"/>
          </a:xfrm>
          <a:prstGeom prst="rect">
            <a:avLst/>
          </a:prstGeom>
        </p:spPr>
      </p:pic>
    </p:spTree>
    <p:extLst>
      <p:ext uri="{BB962C8B-B14F-4D97-AF65-F5344CB8AC3E}">
        <p14:creationId xmlns:p14="http://schemas.microsoft.com/office/powerpoint/2010/main" val="192498853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8">
            <a:extLst>
              <a:ext uri="{FF2B5EF4-FFF2-40B4-BE49-F238E27FC236}">
                <a16:creationId xmlns:a16="http://schemas.microsoft.com/office/drawing/2014/main" id="{92B2F424-9B61-A344-993E-14F9C418CAA7}"/>
              </a:ext>
            </a:extLst>
          </p:cNvPr>
          <p:cNvSpPr txBox="1"/>
          <p:nvPr/>
        </p:nvSpPr>
        <p:spPr>
          <a:xfrm>
            <a:off x="245513" y="222414"/>
            <a:ext cx="2913323" cy="461665"/>
          </a:xfrm>
          <a:prstGeom prst="rect">
            <a:avLst/>
          </a:prstGeom>
          <a:noFill/>
        </p:spPr>
        <p:txBody>
          <a:bodyPr wrap="square" rtlCol="0">
            <a:spAutoFit/>
          </a:bodyPr>
          <a:lstStyle/>
          <a:p>
            <a:r>
              <a:rPr lang="vi-VN" altLang="zh-CN" sz="2400" b="1" dirty="0">
                <a:solidFill>
                  <a:srgbClr val="00925F"/>
                </a:solidFill>
                <a:ea typeface="微软雅黑" panose="020B0503020204020204" pitchFamily="34" charset="-122"/>
                <a:cs typeface="Arial" pitchFamily="34" charset="0"/>
              </a:rPr>
              <a:t>HUYỆN KẾ SÁCH</a:t>
            </a:r>
          </a:p>
        </p:txBody>
      </p:sp>
      <p:sp>
        <p:nvSpPr>
          <p:cNvPr id="7" name="Text Placeholder 6"/>
          <p:cNvSpPr>
            <a:spLocks noGrp="1"/>
          </p:cNvSpPr>
          <p:nvPr>
            <p:ph type="body" sz="quarter" idx="1"/>
          </p:nvPr>
        </p:nvSpPr>
        <p:spPr>
          <a:xfrm>
            <a:off x="7167418" y="1024033"/>
            <a:ext cx="4283310" cy="5312113"/>
          </a:xfrm>
        </p:spPr>
        <p:txBody>
          <a:bodyPr>
            <a:normAutofit/>
          </a:bodyPr>
          <a:lstStyle/>
          <a:p>
            <a:pPr algn="just"/>
            <a:r>
              <a:rPr lang="vi-VN" sz="1500" dirty="0">
                <a:latin typeface="Times New Roman" panose="02020603050405020304" pitchFamily="18" charset="0"/>
                <a:cs typeface="Times New Roman" panose="02020603050405020304" pitchFamily="18" charset="0"/>
              </a:rPr>
              <a:t>Kế hoạch:</a:t>
            </a:r>
          </a:p>
          <a:p>
            <a:pPr algn="just"/>
            <a:r>
              <a:rPr lang="vi-VN" sz="1500" dirty="0">
                <a:latin typeface="Times New Roman" panose="02020603050405020304" pitchFamily="18" charset="0"/>
                <a:cs typeface="Times New Roman" panose="02020603050405020304" pitchFamily="18" charset="0"/>
              </a:rPr>
              <a:t>* Tổng quát</a:t>
            </a:r>
          </a:p>
          <a:p>
            <a:pPr algn="just"/>
            <a:r>
              <a:rPr lang="vi-VN" sz="1500" dirty="0">
                <a:latin typeface="Times New Roman" panose="02020603050405020304" pitchFamily="18" charset="0"/>
                <a:cs typeface="Times New Roman" panose="02020603050405020304" pitchFamily="18" charset="0"/>
              </a:rPr>
              <a:t>- Push thêm model khác vào các shop đã nhập hàng.</a:t>
            </a:r>
          </a:p>
          <a:p>
            <a:pPr algn="just"/>
            <a:r>
              <a:rPr lang="vi-VN" sz="1500" dirty="0">
                <a:latin typeface="Times New Roman" panose="02020603050405020304" pitchFamily="18" charset="0"/>
                <a:cs typeface="Times New Roman" panose="02020603050405020304" pitchFamily="18" charset="0"/>
              </a:rPr>
              <a:t>- Check shop thường xuyên, theo dõi tồn kho OPPO và hãng khác, truy xuất nguồn hàng ngoài.</a:t>
            </a:r>
          </a:p>
          <a:p>
            <a:pPr algn="just"/>
            <a:r>
              <a:rPr lang="vi-VN" sz="1500" dirty="0">
                <a:latin typeface="Times New Roman" panose="02020603050405020304" pitchFamily="18" charset="0"/>
                <a:cs typeface="Times New Roman" panose="02020603050405020304" pitchFamily="18" charset="0"/>
              </a:rPr>
              <a:t>- Hỗ trợ các hoạt động hoạt náo để push S.I</a:t>
            </a:r>
          </a:p>
          <a:p>
            <a:pPr algn="just"/>
            <a:r>
              <a:rPr lang="vi-VN" sz="1500" dirty="0">
                <a:latin typeface="Times New Roman" panose="02020603050405020304" pitchFamily="18" charset="0"/>
                <a:cs typeface="Times New Roman" panose="02020603050405020304" pitchFamily="18" charset="0"/>
              </a:rPr>
              <a:t>* Cụ thể</a:t>
            </a:r>
          </a:p>
          <a:p>
            <a:pPr algn="just"/>
            <a:r>
              <a:rPr lang="vi-VN" sz="1500" dirty="0">
                <a:latin typeface="Times New Roman" panose="02020603050405020304" pitchFamily="18" charset="0"/>
                <a:cs typeface="Times New Roman" panose="02020603050405020304" pitchFamily="18" charset="0"/>
              </a:rPr>
              <a:t>- Shop: Quang Minh push thêm model A3Sr, A18,..</a:t>
            </a:r>
          </a:p>
          <a:p>
            <a:pPr algn="just"/>
            <a:r>
              <a:rPr lang="vi-VN" sz="1500" dirty="0">
                <a:latin typeface="Times New Roman" panose="02020603050405020304" pitchFamily="18" charset="0"/>
                <a:cs typeface="Times New Roman" panose="02020603050405020304" pitchFamily="18" charset="0"/>
              </a:rPr>
              <a:t>- Shop: Văn Vũ có đủ các model pk thấp, cần push mạnh phân khúc Reno</a:t>
            </a:r>
          </a:p>
          <a:p>
            <a:pPr algn="just"/>
            <a:r>
              <a:rPr lang="vi-VN" sz="1500" dirty="0">
                <a:latin typeface="Times New Roman" panose="02020603050405020304" pitchFamily="18" charset="0"/>
                <a:cs typeface="Times New Roman" panose="02020603050405020304" pitchFamily="18" charset="0"/>
              </a:rPr>
              <a:t>- Shop Trọng Phúc: vừa nhập hàng lại, lợi dụng CTKM đẩy mạnh các hàng đang có CTKM cao vào đây để tăng doanh thu.</a:t>
            </a:r>
          </a:p>
          <a:p>
            <a:pPr algn="just"/>
            <a:r>
              <a:rPr lang="vi-VN" sz="1500" dirty="0">
                <a:latin typeface="Times New Roman" panose="02020603050405020304" pitchFamily="18" charset="0"/>
                <a:cs typeface="Times New Roman" panose="02020603050405020304" pitchFamily="18" charset="0"/>
              </a:rPr>
              <a:t>- Đã nhập hàng vào được Ngọc Chuyện</a:t>
            </a:r>
          </a:p>
          <a:p>
            <a:pPr algn="just"/>
            <a:r>
              <a:rPr lang="vi-VN" sz="1500" dirty="0">
                <a:latin typeface="Times New Roman" panose="02020603050405020304" pitchFamily="18" charset="0"/>
                <a:cs typeface="Times New Roman" panose="02020603050405020304" pitchFamily="18" charset="0"/>
              </a:rPr>
              <a:t>- Các shop Minh Phương, Thanh Thiện, Quốc Khánh, là shop thích lợi nhuận cao, soi giá từ nhiều nhà phân phối để nhập hàng, muốn trừ thẳng PMH vào lúc nhập.,.Kế hoạch vào hàng lại tại đây như sau:</a:t>
            </a:r>
          </a:p>
          <a:p>
            <a:pPr algn="just"/>
            <a:r>
              <a:rPr lang="vi-VN" sz="1500" dirty="0">
                <a:latin typeface="Times New Roman" panose="02020603050405020304" pitchFamily="18" charset="0"/>
                <a:cs typeface="Times New Roman" panose="02020603050405020304" pitchFamily="18" charset="0"/>
              </a:rPr>
              <a:t>+ Thường xuyên đến shop, nắm nguồn hàng ngoài của từng shop, xin bảng giá so sánh giá hàng ngoài.</a:t>
            </a:r>
          </a:p>
          <a:p>
            <a:pPr algn="just"/>
            <a:r>
              <a:rPr lang="vi-VN" sz="1500" dirty="0">
                <a:latin typeface="Times New Roman" panose="02020603050405020304" pitchFamily="18" charset="0"/>
                <a:cs typeface="Times New Roman" panose="02020603050405020304" pitchFamily="18" charset="0"/>
              </a:rPr>
              <a:t>+ Tận dựng các đợt khuyến mãi lớn để push các model đó vào trước.</a:t>
            </a:r>
          </a:p>
          <a:p>
            <a:pPr algn="just"/>
            <a:r>
              <a:rPr lang="vi-VN" sz="1500" dirty="0">
                <a:latin typeface="Times New Roman" panose="02020603050405020304" pitchFamily="18" charset="0"/>
                <a:cs typeface="Times New Roman" panose="02020603050405020304" pitchFamily="18" charset="0"/>
              </a:rPr>
              <a:t> </a:t>
            </a:r>
          </a:p>
          <a:p>
            <a:pPr algn="just"/>
            <a:endParaRPr lang="en-US" sz="15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29308" y="1140384"/>
            <a:ext cx="6947880" cy="2175471"/>
          </a:xfrm>
          <a:prstGeom prst="rect">
            <a:avLst/>
          </a:prstGeom>
        </p:spPr>
      </p:pic>
      <p:pic>
        <p:nvPicPr>
          <p:cNvPr id="8" name="Picture 7"/>
          <p:cNvPicPr>
            <a:picLocks noChangeAspect="1"/>
          </p:cNvPicPr>
          <p:nvPr/>
        </p:nvPicPr>
        <p:blipFill>
          <a:blip r:embed="rId3"/>
          <a:stretch>
            <a:fillRect/>
          </a:stretch>
        </p:blipFill>
        <p:spPr>
          <a:xfrm>
            <a:off x="129308" y="3522353"/>
            <a:ext cx="6935168" cy="2362530"/>
          </a:xfrm>
          <a:prstGeom prst="rect">
            <a:avLst/>
          </a:prstGeom>
        </p:spPr>
      </p:pic>
    </p:spTree>
    <p:extLst>
      <p:ext uri="{BB962C8B-B14F-4D97-AF65-F5344CB8AC3E}">
        <p14:creationId xmlns:p14="http://schemas.microsoft.com/office/powerpoint/2010/main" val="395174917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8">
            <a:extLst>
              <a:ext uri="{FF2B5EF4-FFF2-40B4-BE49-F238E27FC236}">
                <a16:creationId xmlns:a16="http://schemas.microsoft.com/office/drawing/2014/main" id="{92B2F424-9B61-A344-993E-14F9C418CAA7}"/>
              </a:ext>
            </a:extLst>
          </p:cNvPr>
          <p:cNvSpPr txBox="1"/>
          <p:nvPr/>
        </p:nvSpPr>
        <p:spPr>
          <a:xfrm>
            <a:off x="245513" y="222414"/>
            <a:ext cx="3689178" cy="461665"/>
          </a:xfrm>
          <a:prstGeom prst="rect">
            <a:avLst/>
          </a:prstGeom>
          <a:noFill/>
        </p:spPr>
        <p:txBody>
          <a:bodyPr wrap="square" rtlCol="0">
            <a:spAutoFit/>
          </a:bodyPr>
          <a:lstStyle/>
          <a:p>
            <a:r>
              <a:rPr lang="vi-VN" altLang="zh-CN" sz="2400" b="1" dirty="0">
                <a:solidFill>
                  <a:srgbClr val="00925F"/>
                </a:solidFill>
                <a:ea typeface="微软雅黑" panose="020B0503020204020204" pitchFamily="34" charset="-122"/>
                <a:cs typeface="Arial" pitchFamily="34" charset="0"/>
              </a:rPr>
              <a:t>HUYỆN CÙ LAO DUNG</a:t>
            </a:r>
          </a:p>
        </p:txBody>
      </p:sp>
      <p:sp>
        <p:nvSpPr>
          <p:cNvPr id="7" name="Text Placeholder 6"/>
          <p:cNvSpPr>
            <a:spLocks noGrp="1"/>
          </p:cNvSpPr>
          <p:nvPr>
            <p:ph type="body" sz="quarter" idx="1"/>
          </p:nvPr>
        </p:nvSpPr>
        <p:spPr>
          <a:xfrm>
            <a:off x="7536874" y="977852"/>
            <a:ext cx="4283310" cy="5312113"/>
          </a:xfrm>
        </p:spPr>
        <p:txBody>
          <a:bodyPr>
            <a:normAutofit lnSpcReduction="10000"/>
          </a:bodyPr>
          <a:lstStyle/>
          <a:p>
            <a:pPr algn="just"/>
            <a:r>
              <a:rPr lang="vi-VN" sz="1500" b="1" dirty="0">
                <a:latin typeface="Times New Roman" panose="02020603050405020304" pitchFamily="18" charset="0"/>
                <a:cs typeface="Times New Roman" panose="02020603050405020304" pitchFamily="18" charset="0"/>
              </a:rPr>
              <a:t>Kế hoạch:</a:t>
            </a:r>
          </a:p>
          <a:p>
            <a:pPr algn="just"/>
            <a:r>
              <a:rPr lang="vi-VN" sz="1500" b="1" dirty="0">
                <a:latin typeface="Times New Roman" panose="02020603050405020304" pitchFamily="18" charset="0"/>
                <a:cs typeface="Times New Roman" panose="02020603050405020304" pitchFamily="18" charset="0"/>
              </a:rPr>
              <a:t>* Tổng quát:</a:t>
            </a:r>
          </a:p>
          <a:p>
            <a:pPr algn="just"/>
            <a:r>
              <a:rPr lang="vi-VN" sz="1500" dirty="0">
                <a:latin typeface="Times New Roman" panose="02020603050405020304" pitchFamily="18" charset="0"/>
                <a:cs typeface="Times New Roman" panose="02020603050405020304" pitchFamily="18" charset="0"/>
              </a:rPr>
              <a:t>- Push thêm model khác vào các shop đã nhập hàng.</a:t>
            </a:r>
          </a:p>
          <a:p>
            <a:pPr algn="just"/>
            <a:r>
              <a:rPr lang="vi-VN" sz="1500" dirty="0">
                <a:latin typeface="Times New Roman" panose="02020603050405020304" pitchFamily="18" charset="0"/>
                <a:cs typeface="Times New Roman" panose="02020603050405020304" pitchFamily="18" charset="0"/>
              </a:rPr>
              <a:t>- Check shop thường xuyên, theo dõi tồn kho OPPO và hãng khác, truy xuất nguồn hàng ngoài.</a:t>
            </a:r>
          </a:p>
          <a:p>
            <a:pPr algn="just"/>
            <a:r>
              <a:rPr lang="vi-VN" sz="1500" dirty="0">
                <a:latin typeface="Times New Roman" panose="02020603050405020304" pitchFamily="18" charset="0"/>
                <a:cs typeface="Times New Roman" panose="02020603050405020304" pitchFamily="18" charset="0"/>
              </a:rPr>
              <a:t>- Hỗ trợ các hoạt động hoạt náo để push S.I</a:t>
            </a:r>
          </a:p>
          <a:p>
            <a:pPr algn="just"/>
            <a:r>
              <a:rPr lang="vi-VN" sz="1500" dirty="0">
                <a:latin typeface="Times New Roman" panose="02020603050405020304" pitchFamily="18" charset="0"/>
                <a:cs typeface="Times New Roman" panose="02020603050405020304" pitchFamily="18" charset="0"/>
              </a:rPr>
              <a:t>- Nắm tồn kho các hãng khác.</a:t>
            </a:r>
          </a:p>
          <a:p>
            <a:pPr algn="just"/>
            <a:r>
              <a:rPr lang="vi-VN" sz="1500" b="1" dirty="0">
                <a:latin typeface="Times New Roman" panose="02020603050405020304" pitchFamily="18" charset="0"/>
                <a:cs typeface="Times New Roman" panose="02020603050405020304" pitchFamily="18" charset="0"/>
              </a:rPr>
              <a:t>* Cụ thể:</a:t>
            </a:r>
          </a:p>
          <a:p>
            <a:pPr algn="just"/>
            <a:r>
              <a:rPr lang="vi-VN" sz="1500" dirty="0">
                <a:latin typeface="Times New Roman" panose="02020603050405020304" pitchFamily="18" charset="0"/>
                <a:cs typeface="Times New Roman" panose="02020603050405020304" pitchFamily="18" charset="0"/>
              </a:rPr>
              <a:t>- Shop Bình An: đang mở thêm cửa hàng thứ 2, tập trung hỗ trợ gắn kết ngay từ đầu để khai thác S.O ngay từ đầu.</a:t>
            </a:r>
          </a:p>
          <a:p>
            <a:pPr algn="just"/>
            <a:r>
              <a:rPr lang="vi-VN" sz="1500" dirty="0">
                <a:latin typeface="Times New Roman" panose="02020603050405020304" pitchFamily="18" charset="0"/>
                <a:cs typeface="Times New Roman" panose="02020603050405020304" pitchFamily="18" charset="0"/>
              </a:rPr>
              <a:t>- Thạch 2: bán tiền mặt, không làm trả góp, thường xuyên trao đổi với shop. Nhờ hỗ trợ đẩy số OPPO</a:t>
            </a:r>
          </a:p>
          <a:p>
            <a:pPr algn="just"/>
            <a:r>
              <a:rPr lang="vi-VN" sz="1500" dirty="0">
                <a:latin typeface="Times New Roman" panose="02020603050405020304" pitchFamily="18" charset="0"/>
                <a:cs typeface="Times New Roman" panose="02020603050405020304" pitchFamily="18" charset="0"/>
              </a:rPr>
              <a:t>- Lâm Mobile: shop chuyên Iphone đối diện Quốc Tặng, S.O OPPO 1 máy, DT: 4.490. Mục tiêu đến cuối tháng: S.O 5 máy</a:t>
            </a:r>
          </a:p>
          <a:p>
            <a:pPr algn="just"/>
            <a:r>
              <a:rPr lang="vi-VN" sz="1500" dirty="0">
                <a:latin typeface="Times New Roman" panose="02020603050405020304" pitchFamily="18" charset="0"/>
                <a:cs typeface="Times New Roman" panose="02020603050405020304" pitchFamily="18" charset="0"/>
              </a:rPr>
              <a:t>- Minh Thế: shop có vốn ít, đã hỗ trợ luân chuyển hàng hóa để push S.I A3,</a:t>
            </a:r>
          </a:p>
          <a:p>
            <a:pPr algn="just"/>
            <a:r>
              <a:rPr lang="vi-VN" sz="1500" dirty="0">
                <a:latin typeface="Times New Roman" panose="02020603050405020304" pitchFamily="18" charset="0"/>
                <a:cs typeface="Times New Roman" panose="02020603050405020304" pitchFamily="18" charset="0"/>
              </a:rPr>
              <a:t>- Còn các shop  VT168 tồn kho 2-3 máy, shop chuyển định hướng trồng mai, mua bán xe không tập trung bán điện thoại.</a:t>
            </a:r>
          </a:p>
          <a:p>
            <a:pPr algn="just"/>
            <a:r>
              <a:rPr lang="vi-VN" sz="1500" dirty="0">
                <a:latin typeface="Times New Roman" panose="02020603050405020304" pitchFamily="18" charset="0"/>
                <a:cs typeface="Times New Roman" panose="02020603050405020304" pitchFamily="18" charset="0"/>
              </a:rPr>
              <a:t>- Huỳnh Duyên: không hợp tác (cắt code)</a:t>
            </a:r>
          </a:p>
          <a:p>
            <a:pPr algn="just"/>
            <a:r>
              <a:rPr lang="vi-VN" sz="1500" dirty="0">
                <a:latin typeface="Times New Roman" panose="02020603050405020304" pitchFamily="18" charset="0"/>
                <a:cs typeface="Times New Roman" panose="02020603050405020304" pitchFamily="18" charset="0"/>
              </a:rPr>
              <a:t>- Vũ Phương nhập hàng từ Linh Vũ, Quốc Tuấn. Đối với shop này đã phân tích lợi nhuận, chính sách khi nhập từ hãng. Nhưng shop muốn cắt hết chiết khấu trừ vào thẳng giá nên cũng chưa nhập.</a:t>
            </a:r>
          </a:p>
          <a:p>
            <a:pPr algn="just"/>
            <a:r>
              <a:rPr lang="vi-VN" sz="1500" dirty="0">
                <a:latin typeface="Times New Roman" panose="02020603050405020304" pitchFamily="18" charset="0"/>
                <a:cs typeface="Times New Roman" panose="02020603050405020304" pitchFamily="18" charset="0"/>
              </a:rPr>
              <a:t> </a:t>
            </a:r>
          </a:p>
          <a:p>
            <a:pPr algn="just"/>
            <a:endParaRPr lang="en-US" sz="15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71622" y="1098243"/>
            <a:ext cx="7122449" cy="1977466"/>
          </a:xfrm>
          <a:prstGeom prst="rect">
            <a:avLst/>
          </a:prstGeom>
        </p:spPr>
      </p:pic>
      <p:pic>
        <p:nvPicPr>
          <p:cNvPr id="3" name="Picture 2"/>
          <p:cNvPicPr>
            <a:picLocks noChangeAspect="1"/>
          </p:cNvPicPr>
          <p:nvPr/>
        </p:nvPicPr>
        <p:blipFill>
          <a:blip r:embed="rId3"/>
          <a:stretch>
            <a:fillRect/>
          </a:stretch>
        </p:blipFill>
        <p:spPr>
          <a:xfrm>
            <a:off x="171622" y="3489873"/>
            <a:ext cx="6973273" cy="2600688"/>
          </a:xfrm>
          <a:prstGeom prst="rect">
            <a:avLst/>
          </a:prstGeom>
        </p:spPr>
      </p:pic>
    </p:spTree>
    <p:extLst>
      <p:ext uri="{BB962C8B-B14F-4D97-AF65-F5344CB8AC3E}">
        <p14:creationId xmlns:p14="http://schemas.microsoft.com/office/powerpoint/2010/main" val="162620634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8">
            <a:extLst>
              <a:ext uri="{FF2B5EF4-FFF2-40B4-BE49-F238E27FC236}">
                <a16:creationId xmlns:a16="http://schemas.microsoft.com/office/drawing/2014/main" id="{92B2F424-9B61-A344-993E-14F9C418CAA7}"/>
              </a:ext>
            </a:extLst>
          </p:cNvPr>
          <p:cNvSpPr txBox="1"/>
          <p:nvPr/>
        </p:nvSpPr>
        <p:spPr>
          <a:xfrm>
            <a:off x="291695" y="250123"/>
            <a:ext cx="3689178" cy="461665"/>
          </a:xfrm>
          <a:prstGeom prst="rect">
            <a:avLst/>
          </a:prstGeom>
          <a:noFill/>
        </p:spPr>
        <p:txBody>
          <a:bodyPr wrap="square" rtlCol="0">
            <a:spAutoFit/>
          </a:bodyPr>
          <a:lstStyle/>
          <a:p>
            <a:r>
              <a:rPr lang="vi-VN" altLang="zh-CN" sz="2400" b="1" dirty="0">
                <a:solidFill>
                  <a:srgbClr val="00925F"/>
                </a:solidFill>
                <a:ea typeface="微软雅黑" panose="020B0503020204020204" pitchFamily="34" charset="-122"/>
                <a:cs typeface="Arial" pitchFamily="34" charset="0"/>
              </a:rPr>
              <a:t>HUYỆN LONG PHÚ</a:t>
            </a:r>
          </a:p>
        </p:txBody>
      </p:sp>
      <p:sp>
        <p:nvSpPr>
          <p:cNvPr id="6" name="Text Placeholder 6"/>
          <p:cNvSpPr>
            <a:spLocks noGrp="1"/>
          </p:cNvSpPr>
          <p:nvPr>
            <p:ph type="body" sz="quarter" idx="1"/>
          </p:nvPr>
        </p:nvSpPr>
        <p:spPr>
          <a:xfrm>
            <a:off x="7462982" y="1014796"/>
            <a:ext cx="4283310" cy="5312113"/>
          </a:xfrm>
        </p:spPr>
        <p:txBody>
          <a:bodyPr>
            <a:normAutofit lnSpcReduction="10000"/>
          </a:bodyPr>
          <a:lstStyle/>
          <a:p>
            <a:pPr algn="just"/>
            <a:r>
              <a:rPr lang="vi-VN" sz="1500" b="1" dirty="0">
                <a:latin typeface="Times New Roman" panose="02020603050405020304" pitchFamily="18" charset="0"/>
                <a:cs typeface="Times New Roman" panose="02020603050405020304" pitchFamily="18" charset="0"/>
              </a:rPr>
              <a:t>Kế hoạch:</a:t>
            </a:r>
          </a:p>
          <a:p>
            <a:pPr algn="just"/>
            <a:r>
              <a:rPr lang="vi-VN" sz="1500" b="1" dirty="0">
                <a:latin typeface="Times New Roman" panose="02020603050405020304" pitchFamily="18" charset="0"/>
                <a:cs typeface="Times New Roman" panose="02020603050405020304" pitchFamily="18" charset="0"/>
              </a:rPr>
              <a:t>* Tổng quát</a:t>
            </a:r>
          </a:p>
          <a:p>
            <a:pPr algn="just"/>
            <a:r>
              <a:rPr lang="vi-VN" sz="1500" dirty="0">
                <a:latin typeface="Times New Roman" panose="02020603050405020304" pitchFamily="18" charset="0"/>
                <a:cs typeface="Times New Roman" panose="02020603050405020304" pitchFamily="18" charset="0"/>
              </a:rPr>
              <a:t>- Push thêm model khác vào các shop đã nhập hàng.</a:t>
            </a:r>
          </a:p>
          <a:p>
            <a:pPr algn="just"/>
            <a:r>
              <a:rPr lang="vi-VN" sz="1500" dirty="0">
                <a:latin typeface="Times New Roman" panose="02020603050405020304" pitchFamily="18" charset="0"/>
                <a:cs typeface="Times New Roman" panose="02020603050405020304" pitchFamily="18" charset="0"/>
              </a:rPr>
              <a:t>- Check shop thường xuyên, theo dõi tồn kho OPPO và hãng khác, truy xuất nguồn hàng ngoài.</a:t>
            </a:r>
          </a:p>
          <a:p>
            <a:pPr algn="just"/>
            <a:r>
              <a:rPr lang="vi-VN" sz="1500" dirty="0">
                <a:latin typeface="Times New Roman" panose="02020603050405020304" pitchFamily="18" charset="0"/>
                <a:cs typeface="Times New Roman" panose="02020603050405020304" pitchFamily="18" charset="0"/>
              </a:rPr>
              <a:t>- Hỗ trợ các hoạt động hoạt náo để push S.I</a:t>
            </a:r>
          </a:p>
          <a:p>
            <a:pPr algn="just"/>
            <a:r>
              <a:rPr lang="vi-VN" sz="1500" b="1" dirty="0">
                <a:latin typeface="Times New Roman" panose="02020603050405020304" pitchFamily="18" charset="0"/>
                <a:cs typeface="Times New Roman" panose="02020603050405020304" pitchFamily="18" charset="0"/>
              </a:rPr>
              <a:t>* Cụ thể</a:t>
            </a:r>
          </a:p>
          <a:p>
            <a:pPr algn="just"/>
            <a:r>
              <a:rPr lang="vi-VN" sz="1500" dirty="0">
                <a:latin typeface="Times New Roman" panose="02020603050405020304" pitchFamily="18" charset="0"/>
                <a:cs typeface="Times New Roman" panose="02020603050405020304" pitchFamily="18" charset="0"/>
              </a:rPr>
              <a:t>- Shop Hoàng Thắng, Ngọc Dung đã push được vào hàng lại.</a:t>
            </a:r>
          </a:p>
          <a:p>
            <a:pPr algn="just"/>
            <a:r>
              <a:rPr lang="vi-VN" sz="1500" dirty="0">
                <a:latin typeface="Times New Roman" panose="02020603050405020304" pitchFamily="18" charset="0"/>
                <a:cs typeface="Times New Roman" panose="02020603050405020304" pitchFamily="18" charset="0"/>
              </a:rPr>
              <a:t>- Thanh Dũng có lực bán chậm đã nhập hàng vào mấy tháng trước nhưng chưa ra hàng được, shop chủ yếu bán máy qua tay.</a:t>
            </a:r>
          </a:p>
          <a:p>
            <a:pPr algn="just"/>
            <a:r>
              <a:rPr lang="vi-VN" sz="1500" dirty="0">
                <a:latin typeface="Times New Roman" panose="02020603050405020304" pitchFamily="18" charset="0"/>
                <a:cs typeface="Times New Roman" panose="02020603050405020304" pitchFamily="18" charset="0"/>
              </a:rPr>
              <a:t>- Trường Hải: Nhập hàng từ Linh Vũ được cắt 2% chiết khấu. Nên lệch giá nhiều, giải pháp tạm thời lấy hàng từ các nhà có chiếc khấu trong khu vực tạm thời cạnh tranh, lấy lại thị phần. Sau đó chia sẽ và hướng shop trở lại nhập hãng.</a:t>
            </a:r>
          </a:p>
          <a:p>
            <a:pPr algn="just"/>
            <a:r>
              <a:rPr lang="vi-VN" sz="1500" dirty="0">
                <a:latin typeface="Times New Roman" panose="02020603050405020304" pitchFamily="18" charset="0"/>
                <a:cs typeface="Times New Roman" panose="02020603050405020304" pitchFamily="18" charset="0"/>
              </a:rPr>
              <a:t>- Vũ 2: lịch sử trong danh sách DC, shop có lực bán tốt, tuy nhiên quan điểm của vợ chủ shop bán OPPO hãng không có lợi nhuận, ở đây đã hỗ trợ phát tờ rơi, hỗ trợ roadshow nhưng chưa mang lại hiêu quả. Giải pháp phân tích cho chị hiểu chính sách hiện tại, hướng đề xuất chạy nhân sự partime để lấy lại thị phần.</a:t>
            </a:r>
          </a:p>
          <a:p>
            <a:pPr algn="just"/>
            <a:r>
              <a:rPr lang="vi-VN" sz="1500" dirty="0">
                <a:latin typeface="Times New Roman" panose="02020603050405020304" pitchFamily="18" charset="0"/>
                <a:cs typeface="Times New Roman" panose="02020603050405020304" pitchFamily="18" charset="0"/>
              </a:rPr>
              <a:t>- Tuyết Nhung: là shop nhỏ nằm trong chợ, S.O thấp, mục tiêu S.I A18 64G, V91, V90 vào đây.</a:t>
            </a:r>
          </a:p>
          <a:p>
            <a:pPr algn="just"/>
            <a:r>
              <a:rPr lang="vi-VN" sz="1500" dirty="0">
                <a:latin typeface="Times New Roman" panose="02020603050405020304" pitchFamily="18" charset="0"/>
                <a:cs typeface="Times New Roman" panose="02020603050405020304" pitchFamily="18" charset="0"/>
              </a:rPr>
              <a:t> </a:t>
            </a:r>
          </a:p>
          <a:p>
            <a:pPr algn="just"/>
            <a:endParaRPr lang="en-US" sz="15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42646" y="1129721"/>
            <a:ext cx="6897063" cy="1869524"/>
          </a:xfrm>
          <a:prstGeom prst="rect">
            <a:avLst/>
          </a:prstGeom>
        </p:spPr>
      </p:pic>
      <p:pic>
        <p:nvPicPr>
          <p:cNvPr id="3" name="Picture 2"/>
          <p:cNvPicPr>
            <a:picLocks noChangeAspect="1"/>
          </p:cNvPicPr>
          <p:nvPr/>
        </p:nvPicPr>
        <p:blipFill>
          <a:blip r:embed="rId3"/>
          <a:stretch>
            <a:fillRect/>
          </a:stretch>
        </p:blipFill>
        <p:spPr>
          <a:xfrm>
            <a:off x="242646" y="3263445"/>
            <a:ext cx="6973273" cy="2381582"/>
          </a:xfrm>
          <a:prstGeom prst="rect">
            <a:avLst/>
          </a:prstGeom>
        </p:spPr>
      </p:pic>
    </p:spTree>
    <p:extLst>
      <p:ext uri="{BB962C8B-B14F-4D97-AF65-F5344CB8AC3E}">
        <p14:creationId xmlns:p14="http://schemas.microsoft.com/office/powerpoint/2010/main" val="427688590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 result for slide cảm ơ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8" name="Picture 14" descr="https://png.pngtree.com/png-clipart/20220901/ourmid/pngtree-thank-you-script-decorated-by-watercolor-floral-illustration-png-image_613268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6574" y="405991"/>
            <a:ext cx="5142415" cy="5142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681902"/>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2278</TotalTime>
  <Words>1853</Words>
  <Application>Microsoft Office PowerPoint</Application>
  <PresentationFormat>Widescreen</PresentationFormat>
  <Paragraphs>182</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微软雅黑</vt:lpstr>
      <vt:lpstr>OPPOSans B</vt:lpstr>
      <vt:lpstr>OPPOSans R</vt:lpstr>
      <vt:lpstr>Arial</vt:lpstr>
      <vt:lpstr>Calibri</vt:lpstr>
      <vt:lpstr>Calibri Light</vt:lpstr>
      <vt:lpstr>Segoe UI Symbol</vt:lpstr>
      <vt:lpstr>Symbol</vt:lpstr>
      <vt:lpstr>Times New Roman</vt:lpstr>
      <vt:lpstr>Office Theme</vt:lpstr>
      <vt:lpstr>Tháng 10 | Sales Plan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Reno12| Sales Plan</dc:title>
  <dc:creator>ASUS USER</dc:creator>
  <cp:lastModifiedBy>Robert To</cp:lastModifiedBy>
  <cp:revision>120</cp:revision>
  <dcterms:created xsi:type="dcterms:W3CDTF">2024-08-28T12:32:43Z</dcterms:created>
  <dcterms:modified xsi:type="dcterms:W3CDTF">2026-10-05T09:59:30Z</dcterms:modified>
</cp:coreProperties>
</file>